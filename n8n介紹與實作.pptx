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  <p:sldMasterId id="2147483738" r:id="rId2"/>
  </p:sldMasterIdLst>
  <p:sldIdLst>
    <p:sldId id="256" r:id="rId3"/>
    <p:sldId id="257" r:id="rId4"/>
    <p:sldId id="259" r:id="rId5"/>
    <p:sldId id="258" r:id="rId6"/>
    <p:sldId id="260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7" r:id="rId20"/>
    <p:sldId id="276" r:id="rId21"/>
    <p:sldId id="278" r:id="rId22"/>
    <p:sldId id="280" r:id="rId23"/>
    <p:sldId id="281" r:id="rId24"/>
    <p:sldId id="274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91" r:id="rId33"/>
    <p:sldId id="290" r:id="rId34"/>
    <p:sldId id="289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11" r:id="rId51"/>
    <p:sldId id="307" r:id="rId52"/>
    <p:sldId id="309" r:id="rId53"/>
    <p:sldId id="308" r:id="rId54"/>
    <p:sldId id="312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ECD988-0C2B-4054-AC3F-9F1B3FAA620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3283A16A-21FF-4BF3-8CFD-8FA103DAFCB1}">
      <dgm:prSet phldrT="[文字]" phldr="0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TW" altLang="en-US" dirty="0"/>
            <a:t>執行 </a:t>
          </a:r>
          <a:r>
            <a:rPr lang="en-US" altLang="zh-TW" dirty="0"/>
            <a:t>0_Create</a:t>
          </a:r>
          <a:endParaRPr lang="zh-TW" altLang="en-US" dirty="0"/>
        </a:p>
      </dgm:t>
    </dgm:pt>
    <dgm:pt modelId="{AC8B5956-370D-4510-9787-1A20339A5FC0}" type="parTrans" cxnId="{B6E153FF-EA58-4454-87AA-3863B9B58DAD}">
      <dgm:prSet/>
      <dgm:spPr/>
      <dgm:t>
        <a:bodyPr/>
        <a:lstStyle/>
        <a:p>
          <a:endParaRPr lang="zh-TW" altLang="en-US"/>
        </a:p>
      </dgm:t>
    </dgm:pt>
    <dgm:pt modelId="{0E9B9280-354B-497C-8A52-E8AB7DC56DF0}" type="sibTrans" cxnId="{B6E153FF-EA58-4454-87AA-3863B9B58DAD}">
      <dgm:prSet/>
      <dgm:spPr/>
      <dgm:t>
        <a:bodyPr/>
        <a:lstStyle/>
        <a:p>
          <a:endParaRPr lang="zh-TW" altLang="en-US"/>
        </a:p>
      </dgm:t>
    </dgm:pt>
    <dgm:pt modelId="{F362552C-1E70-4B6F-B610-94CEC5298207}">
      <dgm:prSet phldrT="[文字]" phldr="0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TW" altLang="en-US" dirty="0"/>
            <a:t>輸入</a:t>
          </a:r>
          <a:r>
            <a:rPr lang="en-US" altLang="zh-TW" dirty="0"/>
            <a:t>/</a:t>
          </a:r>
          <a:r>
            <a:rPr lang="zh-TW" altLang="en-US" dirty="0"/>
            <a:t>更改 </a:t>
          </a:r>
          <a:r>
            <a:rPr lang="en-US" altLang="zh-TW" dirty="0"/>
            <a:t>Google </a:t>
          </a:r>
          <a:r>
            <a:rPr lang="zh-TW" altLang="en-US" dirty="0"/>
            <a:t>試算表</a:t>
          </a:r>
        </a:p>
      </dgm:t>
    </dgm:pt>
    <dgm:pt modelId="{27742EB1-1AA6-426D-986B-F91CC45A72C8}" type="parTrans" cxnId="{2B5B8BB8-4ACD-4603-819E-27EF292BBE75}">
      <dgm:prSet/>
      <dgm:spPr/>
      <dgm:t>
        <a:bodyPr/>
        <a:lstStyle/>
        <a:p>
          <a:endParaRPr lang="zh-TW" altLang="en-US"/>
        </a:p>
      </dgm:t>
    </dgm:pt>
    <dgm:pt modelId="{3F98B516-4B2E-4387-88F2-2F71E7F93A73}" type="sibTrans" cxnId="{2B5B8BB8-4ACD-4603-819E-27EF292BBE75}">
      <dgm:prSet/>
      <dgm:spPr/>
      <dgm:t>
        <a:bodyPr/>
        <a:lstStyle/>
        <a:p>
          <a:endParaRPr lang="zh-TW" altLang="en-US"/>
        </a:p>
      </dgm:t>
    </dgm:pt>
    <dgm:pt modelId="{281C2509-B21D-4BDC-9F27-9074920CF417}">
      <dgm:prSet phldrT="[文字]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TW" altLang="en-US" dirty="0"/>
            <a:t>執行 </a:t>
          </a:r>
          <a:r>
            <a:rPr lang="en-US" altLang="zh-TW" dirty="0"/>
            <a:t>1_Upload</a:t>
          </a:r>
          <a:endParaRPr lang="zh-TW" altLang="en-US" dirty="0"/>
        </a:p>
      </dgm:t>
    </dgm:pt>
    <dgm:pt modelId="{E1DC8372-D3B0-43FF-A28F-1941597488B3}" type="parTrans" cxnId="{F3BF6AA2-69FC-498D-B73D-CA0DCEDED03C}">
      <dgm:prSet/>
      <dgm:spPr/>
      <dgm:t>
        <a:bodyPr/>
        <a:lstStyle/>
        <a:p>
          <a:endParaRPr lang="zh-TW" altLang="en-US"/>
        </a:p>
      </dgm:t>
    </dgm:pt>
    <dgm:pt modelId="{78A5A976-BB6D-4EC3-A066-32F247B1C689}" type="sibTrans" cxnId="{F3BF6AA2-69FC-498D-B73D-CA0DCEDED03C}">
      <dgm:prSet/>
      <dgm:spPr/>
      <dgm:t>
        <a:bodyPr/>
        <a:lstStyle/>
        <a:p>
          <a:endParaRPr lang="zh-TW" altLang="en-US"/>
        </a:p>
      </dgm:t>
    </dgm:pt>
    <dgm:pt modelId="{6180F5D8-6B61-4233-A06C-A6F67B1C0081}">
      <dgm:prSet phldrT="[文字]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TW" altLang="en-US" dirty="0"/>
            <a:t>執行 </a:t>
          </a:r>
          <a:r>
            <a:rPr lang="en-US" altLang="zh-TW" dirty="0"/>
            <a:t>2_Send</a:t>
          </a:r>
          <a:endParaRPr lang="zh-TW" altLang="en-US" dirty="0"/>
        </a:p>
      </dgm:t>
    </dgm:pt>
    <dgm:pt modelId="{E8DB4E15-DF64-44CE-8067-F1996415FA27}" type="parTrans" cxnId="{7CACE310-5401-4733-ACE4-BF478CCA8707}">
      <dgm:prSet/>
      <dgm:spPr/>
      <dgm:t>
        <a:bodyPr/>
        <a:lstStyle/>
        <a:p>
          <a:endParaRPr lang="zh-TW" altLang="en-US"/>
        </a:p>
      </dgm:t>
    </dgm:pt>
    <dgm:pt modelId="{94C3019B-DB0D-428B-BAE6-A23BE3E83A88}" type="sibTrans" cxnId="{7CACE310-5401-4733-ACE4-BF478CCA8707}">
      <dgm:prSet/>
      <dgm:spPr/>
      <dgm:t>
        <a:bodyPr/>
        <a:lstStyle/>
        <a:p>
          <a:endParaRPr lang="zh-TW" altLang="en-US"/>
        </a:p>
      </dgm:t>
    </dgm:pt>
    <dgm:pt modelId="{CB3D629D-A92E-48AD-A725-606B19B8AFD8}" type="pres">
      <dgm:prSet presAssocID="{CAECD988-0C2B-4054-AC3F-9F1B3FAA6209}" presName="Name0" presStyleCnt="0">
        <dgm:presLayoutVars>
          <dgm:dir/>
          <dgm:resizeHandles val="exact"/>
        </dgm:presLayoutVars>
      </dgm:prSet>
      <dgm:spPr/>
    </dgm:pt>
    <dgm:pt modelId="{FEBD77AB-9E7A-4754-B692-4E87999175FD}" type="pres">
      <dgm:prSet presAssocID="{3283A16A-21FF-4BF3-8CFD-8FA103DAFCB1}" presName="node" presStyleLbl="node1" presStyleIdx="0" presStyleCnt="4">
        <dgm:presLayoutVars>
          <dgm:bulletEnabled val="1"/>
        </dgm:presLayoutVars>
      </dgm:prSet>
      <dgm:spPr/>
    </dgm:pt>
    <dgm:pt modelId="{8FBAB9D8-2997-457D-A33A-4BC04771B214}" type="pres">
      <dgm:prSet presAssocID="{0E9B9280-354B-497C-8A52-E8AB7DC56DF0}" presName="sibTrans" presStyleLbl="sibTrans2D1" presStyleIdx="0" presStyleCnt="3"/>
      <dgm:spPr/>
    </dgm:pt>
    <dgm:pt modelId="{70812C8C-E128-479C-A1B4-5D1F0B2BC8B2}" type="pres">
      <dgm:prSet presAssocID="{0E9B9280-354B-497C-8A52-E8AB7DC56DF0}" presName="connectorText" presStyleLbl="sibTrans2D1" presStyleIdx="0" presStyleCnt="3"/>
      <dgm:spPr/>
    </dgm:pt>
    <dgm:pt modelId="{57C0A73B-B42B-422B-B140-9A640DA818F1}" type="pres">
      <dgm:prSet presAssocID="{F362552C-1E70-4B6F-B610-94CEC5298207}" presName="node" presStyleLbl="node1" presStyleIdx="1" presStyleCnt="4">
        <dgm:presLayoutVars>
          <dgm:bulletEnabled val="1"/>
        </dgm:presLayoutVars>
      </dgm:prSet>
      <dgm:spPr/>
    </dgm:pt>
    <dgm:pt modelId="{52AA7128-1BB7-4876-A1FB-14D83171329A}" type="pres">
      <dgm:prSet presAssocID="{3F98B516-4B2E-4387-88F2-2F71E7F93A73}" presName="sibTrans" presStyleLbl="sibTrans2D1" presStyleIdx="1" presStyleCnt="3"/>
      <dgm:spPr/>
    </dgm:pt>
    <dgm:pt modelId="{70E31D75-A50D-4C42-88EC-998A280CA575}" type="pres">
      <dgm:prSet presAssocID="{3F98B516-4B2E-4387-88F2-2F71E7F93A73}" presName="connectorText" presStyleLbl="sibTrans2D1" presStyleIdx="1" presStyleCnt="3"/>
      <dgm:spPr/>
    </dgm:pt>
    <dgm:pt modelId="{2BD5B980-E20A-4D49-8130-2EC6062E8866}" type="pres">
      <dgm:prSet presAssocID="{281C2509-B21D-4BDC-9F27-9074920CF417}" presName="node" presStyleLbl="node1" presStyleIdx="2" presStyleCnt="4">
        <dgm:presLayoutVars>
          <dgm:bulletEnabled val="1"/>
        </dgm:presLayoutVars>
      </dgm:prSet>
      <dgm:spPr/>
    </dgm:pt>
    <dgm:pt modelId="{75569D89-A98C-4CA5-A287-7D36BB34E11A}" type="pres">
      <dgm:prSet presAssocID="{78A5A976-BB6D-4EC3-A066-32F247B1C689}" presName="sibTrans" presStyleLbl="sibTrans2D1" presStyleIdx="2" presStyleCnt="3"/>
      <dgm:spPr/>
    </dgm:pt>
    <dgm:pt modelId="{4DD57DAE-9DB9-49A9-AB81-B7216EFFBC33}" type="pres">
      <dgm:prSet presAssocID="{78A5A976-BB6D-4EC3-A066-32F247B1C689}" presName="connectorText" presStyleLbl="sibTrans2D1" presStyleIdx="2" presStyleCnt="3"/>
      <dgm:spPr/>
    </dgm:pt>
    <dgm:pt modelId="{E375B9D6-E23C-4089-AA66-E633F4BBEF3E}" type="pres">
      <dgm:prSet presAssocID="{6180F5D8-6B61-4233-A06C-A6F67B1C0081}" presName="node" presStyleLbl="node1" presStyleIdx="3" presStyleCnt="4">
        <dgm:presLayoutVars>
          <dgm:bulletEnabled val="1"/>
        </dgm:presLayoutVars>
      </dgm:prSet>
      <dgm:spPr/>
    </dgm:pt>
  </dgm:ptLst>
  <dgm:cxnLst>
    <dgm:cxn modelId="{7CACE310-5401-4733-ACE4-BF478CCA8707}" srcId="{CAECD988-0C2B-4054-AC3F-9F1B3FAA6209}" destId="{6180F5D8-6B61-4233-A06C-A6F67B1C0081}" srcOrd="3" destOrd="0" parTransId="{E8DB4E15-DF64-44CE-8067-F1996415FA27}" sibTransId="{94C3019B-DB0D-428B-BAE6-A23BE3E83A88}"/>
    <dgm:cxn modelId="{20AEEC19-31F3-4B34-9ABE-0579F00535B3}" type="presOf" srcId="{281C2509-B21D-4BDC-9F27-9074920CF417}" destId="{2BD5B980-E20A-4D49-8130-2EC6062E8866}" srcOrd="0" destOrd="0" presId="urn:microsoft.com/office/officeart/2005/8/layout/process1"/>
    <dgm:cxn modelId="{FA3FF243-11E6-40B8-A75A-EE55AEFCCF8E}" type="presOf" srcId="{6180F5D8-6B61-4233-A06C-A6F67B1C0081}" destId="{E375B9D6-E23C-4089-AA66-E633F4BBEF3E}" srcOrd="0" destOrd="0" presId="urn:microsoft.com/office/officeart/2005/8/layout/process1"/>
    <dgm:cxn modelId="{46018F45-4EDB-4BD3-877B-EC1D2FC7BDE4}" type="presOf" srcId="{78A5A976-BB6D-4EC3-A066-32F247B1C689}" destId="{75569D89-A98C-4CA5-A287-7D36BB34E11A}" srcOrd="0" destOrd="0" presId="urn:microsoft.com/office/officeart/2005/8/layout/process1"/>
    <dgm:cxn modelId="{5C33D247-9746-432B-8CBD-072D7752E2F4}" type="presOf" srcId="{3283A16A-21FF-4BF3-8CFD-8FA103DAFCB1}" destId="{FEBD77AB-9E7A-4754-B692-4E87999175FD}" srcOrd="0" destOrd="0" presId="urn:microsoft.com/office/officeart/2005/8/layout/process1"/>
    <dgm:cxn modelId="{61BF5E4C-39D6-4EEF-A9EF-B0731A2C8B1B}" type="presOf" srcId="{0E9B9280-354B-497C-8A52-E8AB7DC56DF0}" destId="{70812C8C-E128-479C-A1B4-5D1F0B2BC8B2}" srcOrd="1" destOrd="0" presId="urn:microsoft.com/office/officeart/2005/8/layout/process1"/>
    <dgm:cxn modelId="{F8A4BD7C-46A2-47F0-9F7A-EB8682FDF49E}" type="presOf" srcId="{3F98B516-4B2E-4387-88F2-2F71E7F93A73}" destId="{52AA7128-1BB7-4876-A1FB-14D83171329A}" srcOrd="0" destOrd="0" presId="urn:microsoft.com/office/officeart/2005/8/layout/process1"/>
    <dgm:cxn modelId="{94E66C7D-45A2-423E-883E-6F08A96081D1}" type="presOf" srcId="{0E9B9280-354B-497C-8A52-E8AB7DC56DF0}" destId="{8FBAB9D8-2997-457D-A33A-4BC04771B214}" srcOrd="0" destOrd="0" presId="urn:microsoft.com/office/officeart/2005/8/layout/process1"/>
    <dgm:cxn modelId="{50355F84-1FFE-4F06-8D90-5D0EF4393143}" type="presOf" srcId="{78A5A976-BB6D-4EC3-A066-32F247B1C689}" destId="{4DD57DAE-9DB9-49A9-AB81-B7216EFFBC33}" srcOrd="1" destOrd="0" presId="urn:microsoft.com/office/officeart/2005/8/layout/process1"/>
    <dgm:cxn modelId="{B5EE5A89-4AE7-4C5E-821B-73008D08BBDA}" type="presOf" srcId="{3F98B516-4B2E-4387-88F2-2F71E7F93A73}" destId="{70E31D75-A50D-4C42-88EC-998A280CA575}" srcOrd="1" destOrd="0" presId="urn:microsoft.com/office/officeart/2005/8/layout/process1"/>
    <dgm:cxn modelId="{F3BF6AA2-69FC-498D-B73D-CA0DCEDED03C}" srcId="{CAECD988-0C2B-4054-AC3F-9F1B3FAA6209}" destId="{281C2509-B21D-4BDC-9F27-9074920CF417}" srcOrd="2" destOrd="0" parTransId="{E1DC8372-D3B0-43FF-A28F-1941597488B3}" sibTransId="{78A5A976-BB6D-4EC3-A066-32F247B1C689}"/>
    <dgm:cxn modelId="{CF72D9A4-EC50-4871-BE2E-83D3D1F78AB6}" type="presOf" srcId="{F362552C-1E70-4B6F-B610-94CEC5298207}" destId="{57C0A73B-B42B-422B-B140-9A640DA818F1}" srcOrd="0" destOrd="0" presId="urn:microsoft.com/office/officeart/2005/8/layout/process1"/>
    <dgm:cxn modelId="{2B5B8BB8-4ACD-4603-819E-27EF292BBE75}" srcId="{CAECD988-0C2B-4054-AC3F-9F1B3FAA6209}" destId="{F362552C-1E70-4B6F-B610-94CEC5298207}" srcOrd="1" destOrd="0" parTransId="{27742EB1-1AA6-426D-986B-F91CC45A72C8}" sibTransId="{3F98B516-4B2E-4387-88F2-2F71E7F93A73}"/>
    <dgm:cxn modelId="{438F23C5-060F-4CF9-8258-214F450ABF0E}" type="presOf" srcId="{CAECD988-0C2B-4054-AC3F-9F1B3FAA6209}" destId="{CB3D629D-A92E-48AD-A725-606B19B8AFD8}" srcOrd="0" destOrd="0" presId="urn:microsoft.com/office/officeart/2005/8/layout/process1"/>
    <dgm:cxn modelId="{B6E153FF-EA58-4454-87AA-3863B9B58DAD}" srcId="{CAECD988-0C2B-4054-AC3F-9F1B3FAA6209}" destId="{3283A16A-21FF-4BF3-8CFD-8FA103DAFCB1}" srcOrd="0" destOrd="0" parTransId="{AC8B5956-370D-4510-9787-1A20339A5FC0}" sibTransId="{0E9B9280-354B-497C-8A52-E8AB7DC56DF0}"/>
    <dgm:cxn modelId="{1C8FB40D-7CED-4A4F-BC28-86B53336D0D8}" type="presParOf" srcId="{CB3D629D-A92E-48AD-A725-606B19B8AFD8}" destId="{FEBD77AB-9E7A-4754-B692-4E87999175FD}" srcOrd="0" destOrd="0" presId="urn:microsoft.com/office/officeart/2005/8/layout/process1"/>
    <dgm:cxn modelId="{34B0B440-15B4-43A0-9CE1-3EBED0A990E1}" type="presParOf" srcId="{CB3D629D-A92E-48AD-A725-606B19B8AFD8}" destId="{8FBAB9D8-2997-457D-A33A-4BC04771B214}" srcOrd="1" destOrd="0" presId="urn:microsoft.com/office/officeart/2005/8/layout/process1"/>
    <dgm:cxn modelId="{4CB84765-10C6-47D4-89E7-59A9216DBAE4}" type="presParOf" srcId="{8FBAB9D8-2997-457D-A33A-4BC04771B214}" destId="{70812C8C-E128-479C-A1B4-5D1F0B2BC8B2}" srcOrd="0" destOrd="0" presId="urn:microsoft.com/office/officeart/2005/8/layout/process1"/>
    <dgm:cxn modelId="{F6787A94-093D-497F-AF63-5A4B56A025C3}" type="presParOf" srcId="{CB3D629D-A92E-48AD-A725-606B19B8AFD8}" destId="{57C0A73B-B42B-422B-B140-9A640DA818F1}" srcOrd="2" destOrd="0" presId="urn:microsoft.com/office/officeart/2005/8/layout/process1"/>
    <dgm:cxn modelId="{3BD3794C-C259-424D-B456-F3A94B095248}" type="presParOf" srcId="{CB3D629D-A92E-48AD-A725-606B19B8AFD8}" destId="{52AA7128-1BB7-4876-A1FB-14D83171329A}" srcOrd="3" destOrd="0" presId="urn:microsoft.com/office/officeart/2005/8/layout/process1"/>
    <dgm:cxn modelId="{BDC0B5E4-482C-4DEA-8200-C871364E07D8}" type="presParOf" srcId="{52AA7128-1BB7-4876-A1FB-14D83171329A}" destId="{70E31D75-A50D-4C42-88EC-998A280CA575}" srcOrd="0" destOrd="0" presId="urn:microsoft.com/office/officeart/2005/8/layout/process1"/>
    <dgm:cxn modelId="{FC2BFEC9-5767-463B-B35B-AA3666D06359}" type="presParOf" srcId="{CB3D629D-A92E-48AD-A725-606B19B8AFD8}" destId="{2BD5B980-E20A-4D49-8130-2EC6062E8866}" srcOrd="4" destOrd="0" presId="urn:microsoft.com/office/officeart/2005/8/layout/process1"/>
    <dgm:cxn modelId="{92F80167-7CD6-40FA-B459-F903FD698D18}" type="presParOf" srcId="{CB3D629D-A92E-48AD-A725-606B19B8AFD8}" destId="{75569D89-A98C-4CA5-A287-7D36BB34E11A}" srcOrd="5" destOrd="0" presId="urn:microsoft.com/office/officeart/2005/8/layout/process1"/>
    <dgm:cxn modelId="{058B727F-7E44-4F2F-A93F-F9289D4606C7}" type="presParOf" srcId="{75569D89-A98C-4CA5-A287-7D36BB34E11A}" destId="{4DD57DAE-9DB9-49A9-AB81-B7216EFFBC33}" srcOrd="0" destOrd="0" presId="urn:microsoft.com/office/officeart/2005/8/layout/process1"/>
    <dgm:cxn modelId="{B9227ECC-D74F-4154-BB93-FBAAF5C14BA8}" type="presParOf" srcId="{CB3D629D-A92E-48AD-A725-606B19B8AFD8}" destId="{E375B9D6-E23C-4089-AA66-E633F4BBEF3E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BD77AB-9E7A-4754-B692-4E87999175FD}">
      <dsp:nvSpPr>
        <dsp:cNvPr id="0" name=""/>
        <dsp:cNvSpPr/>
      </dsp:nvSpPr>
      <dsp:spPr>
        <a:xfrm>
          <a:off x="3571" y="1448369"/>
          <a:ext cx="1561703" cy="1024867"/>
        </a:xfrm>
        <a:prstGeom prst="roundRect">
          <a:avLst>
            <a:gd name="adj" fmla="val 10000"/>
          </a:avLst>
        </a:prstGeom>
        <a:solidFill>
          <a:schemeClr val="accent1"/>
        </a:solidFill>
        <a:ln w="22225" cap="flat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dirty="0"/>
            <a:t>執行 </a:t>
          </a:r>
          <a:r>
            <a:rPr lang="en-US" altLang="zh-TW" sz="1800" kern="1200" dirty="0"/>
            <a:t>0_Create</a:t>
          </a:r>
          <a:endParaRPr lang="zh-TW" altLang="en-US" sz="1800" kern="1200" dirty="0"/>
        </a:p>
      </dsp:txBody>
      <dsp:txXfrm>
        <a:off x="33588" y="1478386"/>
        <a:ext cx="1501669" cy="964833"/>
      </dsp:txXfrm>
    </dsp:sp>
    <dsp:sp modelId="{8FBAB9D8-2997-457D-A33A-4BC04771B214}">
      <dsp:nvSpPr>
        <dsp:cNvPr id="0" name=""/>
        <dsp:cNvSpPr/>
      </dsp:nvSpPr>
      <dsp:spPr>
        <a:xfrm>
          <a:off x="1721445" y="1767151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400" kern="1200"/>
        </a:p>
      </dsp:txBody>
      <dsp:txXfrm>
        <a:off x="1721445" y="1844611"/>
        <a:ext cx="231757" cy="232382"/>
      </dsp:txXfrm>
    </dsp:sp>
    <dsp:sp modelId="{57C0A73B-B42B-422B-B140-9A640DA818F1}">
      <dsp:nvSpPr>
        <dsp:cNvPr id="0" name=""/>
        <dsp:cNvSpPr/>
      </dsp:nvSpPr>
      <dsp:spPr>
        <a:xfrm>
          <a:off x="2189956" y="1448369"/>
          <a:ext cx="1561703" cy="1024867"/>
        </a:xfrm>
        <a:prstGeom prst="roundRect">
          <a:avLst>
            <a:gd name="adj" fmla="val 10000"/>
          </a:avLst>
        </a:prstGeom>
        <a:solidFill>
          <a:schemeClr val="accent2"/>
        </a:solidFill>
        <a:ln w="22225" cap="flat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dirty="0"/>
            <a:t>輸入</a:t>
          </a:r>
          <a:r>
            <a:rPr lang="en-US" altLang="zh-TW" sz="1800" kern="1200" dirty="0"/>
            <a:t>/</a:t>
          </a:r>
          <a:r>
            <a:rPr lang="zh-TW" altLang="en-US" sz="1800" kern="1200" dirty="0"/>
            <a:t>更改 </a:t>
          </a:r>
          <a:r>
            <a:rPr lang="en-US" altLang="zh-TW" sz="1800" kern="1200" dirty="0"/>
            <a:t>Google </a:t>
          </a:r>
          <a:r>
            <a:rPr lang="zh-TW" altLang="en-US" sz="1800" kern="1200" dirty="0"/>
            <a:t>試算表</a:t>
          </a:r>
        </a:p>
      </dsp:txBody>
      <dsp:txXfrm>
        <a:off x="2219973" y="1478386"/>
        <a:ext cx="1501669" cy="964833"/>
      </dsp:txXfrm>
    </dsp:sp>
    <dsp:sp modelId="{52AA7128-1BB7-4876-A1FB-14D83171329A}">
      <dsp:nvSpPr>
        <dsp:cNvPr id="0" name=""/>
        <dsp:cNvSpPr/>
      </dsp:nvSpPr>
      <dsp:spPr>
        <a:xfrm>
          <a:off x="3907829" y="1767151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400" kern="1200"/>
        </a:p>
      </dsp:txBody>
      <dsp:txXfrm>
        <a:off x="3907829" y="1844611"/>
        <a:ext cx="231757" cy="232382"/>
      </dsp:txXfrm>
    </dsp:sp>
    <dsp:sp modelId="{2BD5B980-E20A-4D49-8130-2EC6062E8866}">
      <dsp:nvSpPr>
        <dsp:cNvPr id="0" name=""/>
        <dsp:cNvSpPr/>
      </dsp:nvSpPr>
      <dsp:spPr>
        <a:xfrm>
          <a:off x="4376340" y="1448369"/>
          <a:ext cx="1561703" cy="1024867"/>
        </a:xfrm>
        <a:prstGeom prst="roundRect">
          <a:avLst>
            <a:gd name="adj" fmla="val 10000"/>
          </a:avLst>
        </a:prstGeom>
        <a:solidFill>
          <a:schemeClr val="accent1"/>
        </a:solidFill>
        <a:ln w="22225" cap="flat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dirty="0"/>
            <a:t>執行 </a:t>
          </a:r>
          <a:r>
            <a:rPr lang="en-US" altLang="zh-TW" sz="1800" kern="1200" dirty="0"/>
            <a:t>1_Upload</a:t>
          </a:r>
          <a:endParaRPr lang="zh-TW" altLang="en-US" sz="1800" kern="1200" dirty="0"/>
        </a:p>
      </dsp:txBody>
      <dsp:txXfrm>
        <a:off x="4406357" y="1478386"/>
        <a:ext cx="1501669" cy="964833"/>
      </dsp:txXfrm>
    </dsp:sp>
    <dsp:sp modelId="{75569D89-A98C-4CA5-A287-7D36BB34E11A}">
      <dsp:nvSpPr>
        <dsp:cNvPr id="0" name=""/>
        <dsp:cNvSpPr/>
      </dsp:nvSpPr>
      <dsp:spPr>
        <a:xfrm>
          <a:off x="6094214" y="1767151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400" kern="1200"/>
        </a:p>
      </dsp:txBody>
      <dsp:txXfrm>
        <a:off x="6094214" y="1844611"/>
        <a:ext cx="231757" cy="232382"/>
      </dsp:txXfrm>
    </dsp:sp>
    <dsp:sp modelId="{E375B9D6-E23C-4089-AA66-E633F4BBEF3E}">
      <dsp:nvSpPr>
        <dsp:cNvPr id="0" name=""/>
        <dsp:cNvSpPr/>
      </dsp:nvSpPr>
      <dsp:spPr>
        <a:xfrm>
          <a:off x="6562724" y="1448369"/>
          <a:ext cx="1561703" cy="1024867"/>
        </a:xfrm>
        <a:prstGeom prst="roundRect">
          <a:avLst>
            <a:gd name="adj" fmla="val 10000"/>
          </a:avLst>
        </a:prstGeom>
        <a:solidFill>
          <a:schemeClr val="accent1"/>
        </a:solidFill>
        <a:ln w="22225" cap="flat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dirty="0"/>
            <a:t>執行 </a:t>
          </a:r>
          <a:r>
            <a:rPr lang="en-US" altLang="zh-TW" sz="1800" kern="1200" dirty="0"/>
            <a:t>2_Send</a:t>
          </a:r>
          <a:endParaRPr lang="zh-TW" altLang="en-US" sz="1800" kern="1200" dirty="0"/>
        </a:p>
      </dsp:txBody>
      <dsp:txXfrm>
        <a:off x="6592741" y="1478386"/>
        <a:ext cx="1501669" cy="9648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5430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4063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059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7255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736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26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567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8975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2096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3415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7280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1022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309741"/>
            <a:ext cx="9905998" cy="757058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327867"/>
            <a:ext cx="9905999" cy="4463333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9922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6131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309741"/>
            <a:ext cx="9905998" cy="757058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1158874"/>
            <a:ext cx="4878389" cy="4632326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58874"/>
            <a:ext cx="4875211" cy="4632326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07348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2445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309741"/>
            <a:ext cx="9905998" cy="757058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06026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56716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01671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dirty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70724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lvl="0" indent="0">
              <a:buNone/>
            </a:pPr>
            <a:r>
              <a:rPr lang="zh-TW" altLang="en-US" dirty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99834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91852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4526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1951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11002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7820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02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7018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6659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30E91-B7D1-4880-B713-AB4695333DC1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3E2D4-9C4D-4133-837D-102383577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92242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none" baseline="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732528-7988-8998-FB6C-9163651814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n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8n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介紹與實作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087A7CA-399E-F179-5AFE-FE21AF537D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授課者：蔡明翰</a:t>
            </a:r>
          </a:p>
        </p:txBody>
      </p:sp>
    </p:spTree>
    <p:extLst>
      <p:ext uri="{BB962C8B-B14F-4D97-AF65-F5344CB8AC3E}">
        <p14:creationId xmlns:p14="http://schemas.microsoft.com/office/powerpoint/2010/main" val="296728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E7B50B2-44DC-5C4E-8BF2-A379BB1CE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目錄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870D582-6BC3-29F9-8365-50CA0E957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/>
              <a:t>n8n</a:t>
            </a:r>
            <a:r>
              <a:rPr lang="zh-TW" altLang="en-US" sz="2800" dirty="0"/>
              <a:t> 的特色與優勢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與資料庫的安裝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的介面與基本功能介紹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的 </a:t>
            </a:r>
            <a:r>
              <a:rPr lang="en-US" altLang="zh-TW" sz="2800" dirty="0"/>
              <a:t>API</a:t>
            </a:r>
            <a:r>
              <a:rPr lang="zh-TW" altLang="en-US" sz="2800" dirty="0"/>
              <a:t> 憑證取得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的情境實作：每月郵件寄送系統</a:t>
            </a:r>
            <a:endParaRPr lang="en-US" altLang="zh-TW" sz="2800" dirty="0"/>
          </a:p>
          <a:p>
            <a:r>
              <a:rPr lang="zh-TW" altLang="en-US" sz="2800" dirty="0"/>
              <a:t>額外補充</a:t>
            </a:r>
            <a:endParaRPr lang="en-US" altLang="zh-TW" sz="28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07849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0BD20-2744-9DDF-B49E-796817D79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7ECA6B2-EBAE-B7D6-440D-28402C9CE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目錄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B179DD1-5A47-948E-39F7-A9943BC5F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solidFill>
                  <a:schemeClr val="accent2"/>
                </a:solidFill>
              </a:rPr>
              <a:t>n8n</a:t>
            </a:r>
            <a:r>
              <a:rPr lang="zh-TW" altLang="en-US" sz="2800" dirty="0">
                <a:solidFill>
                  <a:schemeClr val="accent2"/>
                </a:solidFill>
              </a:rPr>
              <a:t> 的特色與優勢</a:t>
            </a:r>
            <a:endParaRPr lang="en-US" altLang="zh-TW" sz="2800" dirty="0">
              <a:solidFill>
                <a:schemeClr val="accent2"/>
              </a:solidFill>
            </a:endParaRPr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與資料庫的安裝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的介面與基本功能介紹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的 </a:t>
            </a:r>
            <a:r>
              <a:rPr lang="en-US" altLang="zh-TW" sz="2800" dirty="0"/>
              <a:t>API</a:t>
            </a:r>
            <a:r>
              <a:rPr lang="zh-TW" altLang="en-US" sz="2800" dirty="0"/>
              <a:t> 憑證取得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的情境實作：每月郵件寄送系統</a:t>
            </a:r>
            <a:endParaRPr lang="en-US" altLang="zh-TW" sz="2800" dirty="0"/>
          </a:p>
          <a:p>
            <a:r>
              <a:rPr lang="zh-TW" altLang="en-US" sz="2800" dirty="0"/>
              <a:t>額外補充</a:t>
            </a:r>
            <a:endParaRPr lang="en-US" altLang="zh-TW" sz="2800" dirty="0"/>
          </a:p>
          <a:p>
            <a:endParaRPr lang="en-US" altLang="zh-TW" sz="28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6701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21C600-41A6-269C-D27B-10231FB61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什麼是 </a:t>
            </a:r>
            <a:r>
              <a:rPr lang="en-US" altLang="zh-TW" dirty="0"/>
              <a:t>n8n</a:t>
            </a:r>
            <a:r>
              <a:rPr lang="zh-TW" altLang="en-US" dirty="0"/>
              <a:t> 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6C661E-1518-41AC-BC73-4890BBC29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n8n</a:t>
            </a:r>
            <a:r>
              <a:rPr lang="zh-TW" altLang="en-US" dirty="0"/>
              <a:t> 是一個工作流自動化平台。</a:t>
            </a:r>
            <a:endParaRPr lang="en-US" altLang="zh-TW" dirty="0"/>
          </a:p>
          <a:p>
            <a:r>
              <a:rPr lang="zh-TW" altLang="en-US" dirty="0"/>
              <a:t>特色：</a:t>
            </a:r>
            <a:endParaRPr lang="en-US" altLang="zh-TW" dirty="0"/>
          </a:p>
          <a:p>
            <a:pPr lvl="1"/>
            <a:r>
              <a:rPr lang="zh-TW" altLang="en-US" dirty="0"/>
              <a:t>開源 </a:t>
            </a:r>
            <a:r>
              <a:rPr lang="en-US" altLang="zh-TW" dirty="0"/>
              <a:t>(Open-source)</a:t>
            </a:r>
          </a:p>
          <a:p>
            <a:pPr lvl="1"/>
            <a:r>
              <a:rPr lang="zh-TW" altLang="en-US" dirty="0"/>
              <a:t>支援自架 </a:t>
            </a:r>
            <a:r>
              <a:rPr lang="en-US" altLang="zh-TW" dirty="0"/>
              <a:t>(Self-hosting)</a:t>
            </a:r>
          </a:p>
          <a:p>
            <a:pPr lvl="1"/>
            <a:r>
              <a:rPr lang="zh-TW" altLang="en-US" dirty="0"/>
              <a:t>節點式架構 </a:t>
            </a:r>
            <a:r>
              <a:rPr lang="en-US" altLang="zh-TW" dirty="0"/>
              <a:t>(Node-based)</a:t>
            </a:r>
          </a:p>
          <a:p>
            <a:pPr lvl="1"/>
            <a:r>
              <a:rPr lang="en-US" altLang="zh-TW" dirty="0" err="1"/>
              <a:t>json</a:t>
            </a:r>
            <a:r>
              <a:rPr lang="zh-TW" altLang="en-US" dirty="0"/>
              <a:t> 與 </a:t>
            </a:r>
            <a:r>
              <a:rPr lang="en-US" altLang="zh-TW" dirty="0"/>
              <a:t>item </a:t>
            </a:r>
            <a:r>
              <a:rPr lang="zh-TW" altLang="en-US" dirty="0"/>
              <a:t>數據流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D76A824-7226-E6E2-D0D5-4C352ACBE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420" y="4207864"/>
            <a:ext cx="5995989" cy="184440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48D7F54-206B-3CE1-26B9-AB3C8283D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409" y="1066799"/>
            <a:ext cx="342900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687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8A6A8D-355F-ED31-A2D3-AD69FE01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n8n </a:t>
            </a:r>
            <a:r>
              <a:rPr lang="zh-TW" altLang="en-US" dirty="0"/>
              <a:t>的優勢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725C01-BFB0-4A14-04AA-8116D373D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視覺化流程圖</a:t>
            </a:r>
            <a:endParaRPr lang="en-US" altLang="zh-TW" dirty="0"/>
          </a:p>
          <a:p>
            <a:r>
              <a:rPr lang="zh-TW" altLang="en-US" dirty="0"/>
              <a:t>低程式碼 </a:t>
            </a:r>
            <a:r>
              <a:rPr lang="en-US" altLang="zh-TW" dirty="0"/>
              <a:t>(Low code)</a:t>
            </a:r>
          </a:p>
          <a:p>
            <a:r>
              <a:rPr lang="zh-TW" altLang="en-US" dirty="0"/>
              <a:t>多種應用整合 </a:t>
            </a:r>
            <a:r>
              <a:rPr lang="en-US" altLang="zh-TW" dirty="0"/>
              <a:t>(Gmail, Gemini, ChatGPT, Google Sheets…)</a:t>
            </a:r>
          </a:p>
          <a:p>
            <a:r>
              <a:rPr lang="zh-TW" altLang="en-US" dirty="0"/>
              <a:t>開發者友善 </a:t>
            </a:r>
            <a:r>
              <a:rPr lang="en-US" altLang="zh-TW" dirty="0"/>
              <a:t>(JavaScript, Python)</a:t>
            </a:r>
          </a:p>
          <a:p>
            <a:r>
              <a:rPr lang="zh-TW" altLang="en-US" dirty="0">
                <a:solidFill>
                  <a:schemeClr val="accent2"/>
                </a:solidFill>
              </a:rPr>
              <a:t>免錢</a:t>
            </a:r>
            <a:r>
              <a:rPr lang="en-US" altLang="zh-TW" dirty="0">
                <a:solidFill>
                  <a:schemeClr val="accent2"/>
                </a:solidFill>
              </a:rPr>
              <a:t>!!!</a:t>
            </a:r>
            <a:endParaRPr lang="zh-TW" altLang="en-US" dirty="0">
              <a:solidFill>
                <a:schemeClr val="accent2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19AE170-4071-ED37-3961-F366CF798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420" y="4207864"/>
            <a:ext cx="5995989" cy="184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579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A8A17-3738-D6F6-9A8A-5C9082E84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D18DD67-67F7-8AF2-223D-42C44E845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目錄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D81B61A-5B83-42B9-47A2-9832A0F2D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/>
              <a:t>n8n</a:t>
            </a:r>
            <a:r>
              <a:rPr lang="zh-TW" altLang="en-US" sz="2800" dirty="0"/>
              <a:t> 的特色與優勢</a:t>
            </a:r>
            <a:endParaRPr lang="en-US" altLang="zh-TW" sz="2800" dirty="0"/>
          </a:p>
          <a:p>
            <a:r>
              <a:rPr lang="en-US" altLang="zh-TW" sz="2800" dirty="0">
                <a:solidFill>
                  <a:schemeClr val="accent2"/>
                </a:solidFill>
              </a:rPr>
              <a:t>n8n </a:t>
            </a:r>
            <a:r>
              <a:rPr lang="zh-TW" altLang="en-US" sz="2800" dirty="0">
                <a:solidFill>
                  <a:schemeClr val="accent2"/>
                </a:solidFill>
              </a:rPr>
              <a:t>與資料庫的安裝</a:t>
            </a:r>
            <a:endParaRPr lang="en-US" altLang="zh-TW" sz="2800" dirty="0">
              <a:solidFill>
                <a:schemeClr val="accent2"/>
              </a:solidFill>
            </a:endParaRPr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的介面與基本功能介紹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的 </a:t>
            </a:r>
            <a:r>
              <a:rPr lang="en-US" altLang="zh-TW" sz="2800" dirty="0"/>
              <a:t>API</a:t>
            </a:r>
            <a:r>
              <a:rPr lang="zh-TW" altLang="en-US" sz="2800" dirty="0"/>
              <a:t> 憑證取得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的情境實作：每月郵件寄送系統</a:t>
            </a:r>
            <a:endParaRPr lang="en-US" altLang="zh-TW" sz="2800" dirty="0"/>
          </a:p>
          <a:p>
            <a:r>
              <a:rPr lang="zh-TW" altLang="en-US" sz="2800" dirty="0"/>
              <a:t>額外補充</a:t>
            </a:r>
            <a:endParaRPr lang="en-US" altLang="zh-TW" sz="28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1319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AF2267-68BA-16BE-63CC-F0F279BB0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安裝前置需求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FCBE50-D19D-45BC-F2AC-A6A984DDBF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TW" altLang="en-US" dirty="0"/>
              <a:t>硬體：</a:t>
            </a:r>
            <a:endParaRPr lang="en-US" altLang="zh-TW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393565-B19D-9485-3679-0DD2DFB08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64218" y="1158874"/>
            <a:ext cx="4083193" cy="4632326"/>
          </a:xfrm>
        </p:spPr>
        <p:txBody>
          <a:bodyPr/>
          <a:lstStyle/>
          <a:p>
            <a:r>
              <a:rPr lang="zh-TW" altLang="en-US" dirty="0"/>
              <a:t>軟體：</a:t>
            </a:r>
            <a:endParaRPr lang="en-US" altLang="zh-TW" dirty="0"/>
          </a:p>
          <a:p>
            <a:pPr lvl="1"/>
            <a:r>
              <a:rPr lang="en-US" altLang="zh-TW" dirty="0"/>
              <a:t>Windows 10/11</a:t>
            </a:r>
          </a:p>
          <a:p>
            <a:pPr lvl="1"/>
            <a:r>
              <a:rPr lang="en-US" altLang="zh-TW" dirty="0"/>
              <a:t>MacOS</a:t>
            </a:r>
          </a:p>
          <a:p>
            <a:pPr lvl="1"/>
            <a:r>
              <a:rPr lang="en-US" altLang="zh-TW" dirty="0">
                <a:solidFill>
                  <a:schemeClr val="accent2"/>
                </a:solidFill>
              </a:rPr>
              <a:t>Docker Desktop + WSL</a:t>
            </a:r>
            <a:endParaRPr lang="zh-TW" altLang="en-US" dirty="0">
              <a:solidFill>
                <a:schemeClr val="accent2"/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CEE9108-42C7-CA86-0F08-1AC162EFB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580861"/>
              </p:ext>
            </p:extLst>
          </p:nvPr>
        </p:nvGraphicFramePr>
        <p:xfrm>
          <a:off x="1141410" y="1736726"/>
          <a:ext cx="5591898" cy="396240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380116">
                  <a:extLst>
                    <a:ext uri="{9D8B030D-6E8A-4147-A177-3AD203B41FA5}">
                      <a16:colId xmlns:a16="http://schemas.microsoft.com/office/drawing/2014/main" val="3927777743"/>
                    </a:ext>
                  </a:extLst>
                </a:gridCol>
                <a:gridCol w="2105891">
                  <a:extLst>
                    <a:ext uri="{9D8B030D-6E8A-4147-A177-3AD203B41FA5}">
                      <a16:colId xmlns:a16="http://schemas.microsoft.com/office/drawing/2014/main" val="1777772609"/>
                    </a:ext>
                  </a:extLst>
                </a:gridCol>
                <a:gridCol w="2105891">
                  <a:extLst>
                    <a:ext uri="{9D8B030D-6E8A-4147-A177-3AD203B41FA5}">
                      <a16:colId xmlns:a16="http://schemas.microsoft.com/office/drawing/2014/main" val="3652596060"/>
                    </a:ext>
                  </a:extLst>
                </a:gridCol>
              </a:tblGrid>
              <a:tr h="6617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b="1" dirty="0">
                          <a:solidFill>
                            <a:schemeClr val="accent2"/>
                          </a:solidFill>
                          <a:effectLst/>
                        </a:rPr>
                        <a:t>組件</a:t>
                      </a:r>
                      <a:endParaRPr lang="zh-TW" altLang="en-US" dirty="0">
                        <a:solidFill>
                          <a:schemeClr val="accent2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b="1" dirty="0">
                          <a:solidFill>
                            <a:schemeClr val="accent2"/>
                          </a:solidFill>
                          <a:effectLst/>
                        </a:rPr>
                        <a:t>最低需求 </a:t>
                      </a:r>
                      <a:r>
                        <a:rPr lang="en-US" altLang="zh-TW" b="1" dirty="0">
                          <a:solidFill>
                            <a:schemeClr val="accent2"/>
                          </a:solidFill>
                          <a:effectLst/>
                        </a:rPr>
                        <a:t>(</a:t>
                      </a:r>
                      <a:r>
                        <a:rPr lang="zh-TW" altLang="en-US" b="1" dirty="0">
                          <a:solidFill>
                            <a:schemeClr val="accent2"/>
                          </a:solidFill>
                          <a:effectLst/>
                        </a:rPr>
                        <a:t>測試</a:t>
                      </a:r>
                      <a:r>
                        <a:rPr lang="en-US" altLang="zh-TW" b="1" dirty="0">
                          <a:solidFill>
                            <a:schemeClr val="accent2"/>
                          </a:solidFill>
                          <a:effectLst/>
                        </a:rPr>
                        <a:t>/</a:t>
                      </a:r>
                      <a:r>
                        <a:rPr lang="zh-TW" altLang="en-US" b="1" dirty="0">
                          <a:solidFill>
                            <a:schemeClr val="accent2"/>
                          </a:solidFill>
                          <a:effectLst/>
                        </a:rPr>
                        <a:t>輕量使用</a:t>
                      </a:r>
                      <a:r>
                        <a:rPr lang="en-US" altLang="zh-TW" b="1" dirty="0">
                          <a:solidFill>
                            <a:schemeClr val="accent2"/>
                          </a:solidFill>
                          <a:effectLst/>
                        </a:rPr>
                        <a:t>)</a:t>
                      </a:r>
                      <a:endParaRPr lang="zh-TW" altLang="en-US" dirty="0">
                        <a:solidFill>
                          <a:schemeClr val="accent2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b="1" dirty="0">
                          <a:solidFill>
                            <a:schemeClr val="accent2"/>
                          </a:solidFill>
                          <a:effectLst/>
                        </a:rPr>
                        <a:t>建議規格 </a:t>
                      </a:r>
                      <a:r>
                        <a:rPr lang="en-US" altLang="zh-TW" b="1" dirty="0">
                          <a:solidFill>
                            <a:schemeClr val="accent2"/>
                          </a:solidFill>
                          <a:effectLst/>
                        </a:rPr>
                        <a:t>(</a:t>
                      </a:r>
                      <a:r>
                        <a:rPr lang="zh-TW" altLang="en-US" b="1" dirty="0">
                          <a:solidFill>
                            <a:schemeClr val="accent2"/>
                          </a:solidFill>
                          <a:effectLst/>
                        </a:rPr>
                        <a:t>穩定運行</a:t>
                      </a:r>
                      <a:r>
                        <a:rPr lang="en-US" altLang="zh-TW" b="1" dirty="0">
                          <a:solidFill>
                            <a:schemeClr val="accent2"/>
                          </a:solidFill>
                          <a:effectLst/>
                        </a:rPr>
                        <a:t>/AI </a:t>
                      </a:r>
                      <a:r>
                        <a:rPr lang="zh-TW" altLang="en-US" b="1" dirty="0">
                          <a:solidFill>
                            <a:schemeClr val="accent2"/>
                          </a:solidFill>
                          <a:effectLst/>
                        </a:rPr>
                        <a:t>流程</a:t>
                      </a:r>
                      <a:r>
                        <a:rPr lang="en-US" altLang="zh-TW" b="1" dirty="0">
                          <a:solidFill>
                            <a:schemeClr val="accent2"/>
                          </a:solidFill>
                          <a:effectLst/>
                        </a:rPr>
                        <a:t>)</a:t>
                      </a:r>
                      <a:endParaRPr lang="zh-TW" altLang="en-US" dirty="0">
                        <a:solidFill>
                          <a:schemeClr val="accent2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1533897395"/>
                  </a:ext>
                </a:extLst>
              </a:tr>
              <a:tr h="43265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CPU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TW">
                          <a:solidFill>
                            <a:schemeClr val="tx1"/>
                          </a:solidFill>
                          <a:effectLst/>
                        </a:rPr>
                        <a:t>1 ~ 2 </a:t>
                      </a:r>
                      <a:r>
                        <a:rPr lang="zh-TW" altLang="en-US">
                          <a:solidFill>
                            <a:schemeClr val="tx1"/>
                          </a:solidFill>
                          <a:effectLst/>
                        </a:rPr>
                        <a:t>核心</a:t>
                      </a:r>
                      <a:endParaRPr lang="zh-TW" altLang="en-US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TW">
                          <a:solidFill>
                            <a:schemeClr val="tx1"/>
                          </a:solidFill>
                          <a:effectLst/>
                        </a:rPr>
                        <a:t>2 ~ 4 </a:t>
                      </a:r>
                      <a:r>
                        <a:rPr lang="zh-TW" altLang="en-US">
                          <a:solidFill>
                            <a:schemeClr val="tx1"/>
                          </a:solidFill>
                          <a:effectLst/>
                        </a:rPr>
                        <a:t>核心</a:t>
                      </a:r>
                      <a:endParaRPr lang="zh-TW" altLang="en-US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4137444162"/>
                  </a:ext>
                </a:extLst>
              </a:tr>
              <a:tr h="6617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RAM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2 GB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4 GB ~ 8 GB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effectLst/>
                        </a:rPr>
                        <a:t>若跑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AI Agent 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effectLst/>
                        </a:rPr>
                        <a:t>建議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GB)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3661995748"/>
                  </a:ext>
                </a:extLst>
              </a:tr>
              <a:tr h="6617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b="1">
                          <a:solidFill>
                            <a:schemeClr val="tx1"/>
                          </a:solidFill>
                          <a:effectLst/>
                        </a:rPr>
                        <a:t>磁碟空間</a:t>
                      </a:r>
                      <a:endParaRPr lang="zh-TW" altLang="en-US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1 GB 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effectLst/>
                        </a:rPr>
                        <a:t>剩餘空間</a:t>
                      </a:r>
                      <a:endParaRPr lang="zh-TW" altLang="en-US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effectLst/>
                        </a:rPr>
                        <a:t>20 GB 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effectLst/>
                        </a:rPr>
                        <a:t>以上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effectLst/>
                        </a:rPr>
                        <a:t>視工作紀錄與資料庫而定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altLang="zh-TW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2409955218"/>
                  </a:ext>
                </a:extLst>
              </a:tr>
              <a:tr h="6617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b="1">
                          <a:solidFill>
                            <a:schemeClr val="tx1"/>
                          </a:solidFill>
                          <a:effectLst/>
                        </a:rPr>
                        <a:t>儲存類型</a:t>
                      </a:r>
                      <a:endParaRPr lang="zh-TW" altLang="en-US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>
                          <a:solidFill>
                            <a:schemeClr val="tx1"/>
                          </a:solidFill>
                          <a:effectLst/>
                        </a:rPr>
                        <a:t>一般 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HDD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b="1" dirty="0">
                          <a:solidFill>
                            <a:schemeClr val="tx1"/>
                          </a:solidFill>
                          <a:effectLst/>
                        </a:rPr>
                        <a:t>強烈建議 </a:t>
                      </a:r>
                      <a:r>
                        <a:rPr lang="en-US" altLang="zh-TW" b="1" dirty="0">
                          <a:solidFill>
                            <a:schemeClr val="tx1"/>
                          </a:solidFill>
                          <a:effectLst/>
                        </a:rPr>
                        <a:t>SSD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effectLst/>
                        </a:rPr>
                        <a:t>加快資料庫讀取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altLang="zh-TW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4122488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121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8F9D04-7A33-4A6B-2F50-34F37F119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安裝前置需求 </a:t>
            </a:r>
            <a:r>
              <a:rPr lang="en-US" altLang="zh-TW" dirty="0"/>
              <a:t>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AA6653-1AF5-BCE4-9392-90D543BFE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327867"/>
            <a:ext cx="3098078" cy="4463333"/>
          </a:xfrm>
        </p:spPr>
        <p:txBody>
          <a:bodyPr/>
          <a:lstStyle/>
          <a:p>
            <a:r>
              <a:rPr lang="zh-TW" altLang="en-US" dirty="0"/>
              <a:t>進行下一步前，請再次確認你已安裝並且開啟 </a:t>
            </a:r>
            <a:r>
              <a:rPr lang="en-US" altLang="zh-TW" dirty="0"/>
              <a:t>Docker Desktop</a:t>
            </a:r>
            <a:r>
              <a:rPr lang="zh-TW" altLang="en-US" dirty="0"/>
              <a:t>。</a:t>
            </a:r>
            <a:r>
              <a:rPr lang="en-US" altLang="zh-TW" dirty="0"/>
              <a:t>(</a:t>
            </a:r>
            <a:r>
              <a:rPr lang="zh-TW" altLang="en-US" dirty="0"/>
              <a:t>有無登入對於安裝沒有影響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6211568-4401-0E44-21A6-D996FCF06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290" y="1366921"/>
            <a:ext cx="7233138" cy="412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40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627542-0DBE-4FD5-C731-C0E20A56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n8n </a:t>
            </a:r>
            <a:r>
              <a:rPr lang="zh-TW" altLang="en-US" dirty="0"/>
              <a:t>的安裝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2EF634-9CC2-E164-80D3-4FDCBD910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327867"/>
            <a:ext cx="4104842" cy="4463333"/>
          </a:xfrm>
        </p:spPr>
        <p:txBody>
          <a:bodyPr/>
          <a:lstStyle/>
          <a:p>
            <a:r>
              <a:rPr lang="zh-TW" altLang="en-US" dirty="0"/>
              <a:t>首先，在工具列的「搜尋」中打入 </a:t>
            </a:r>
            <a:r>
              <a:rPr lang="en-US" altLang="zh-TW" dirty="0"/>
              <a:t>“</a:t>
            </a:r>
            <a:r>
              <a:rPr lang="en-US" altLang="zh-TW" dirty="0" err="1"/>
              <a:t>cmd</a:t>
            </a:r>
            <a:r>
              <a:rPr lang="en-US" altLang="zh-TW" dirty="0"/>
              <a:t>”</a:t>
            </a:r>
            <a:r>
              <a:rPr lang="zh-TW" altLang="en-US" dirty="0"/>
              <a:t>並打開 「命令提示字元」 。</a:t>
            </a:r>
            <a:endParaRPr lang="en-US" altLang="zh-TW" dirty="0"/>
          </a:p>
          <a:p>
            <a:r>
              <a:rPr lang="zh-TW" altLang="en-US" dirty="0"/>
              <a:t>不使用 </a:t>
            </a:r>
            <a:r>
              <a:rPr lang="en-US" altLang="zh-TW" dirty="0"/>
              <a:t>PowerShell </a:t>
            </a:r>
            <a:r>
              <a:rPr lang="zh-TW" altLang="en-US" dirty="0"/>
              <a:t>是因為其預設路徑在 </a:t>
            </a:r>
            <a:r>
              <a:rPr lang="en-US" altLang="zh-TW" dirty="0"/>
              <a:t>System32 </a:t>
            </a:r>
            <a:r>
              <a:rPr lang="zh-TW" altLang="en-US" dirty="0"/>
              <a:t>目錄中，而我們則要在 </a:t>
            </a:r>
            <a:r>
              <a:rPr lang="en-US" altLang="zh-TW" dirty="0"/>
              <a:t>User </a:t>
            </a:r>
            <a:r>
              <a:rPr lang="zh-TW" altLang="en-US" dirty="0"/>
              <a:t>目錄下安裝 </a:t>
            </a:r>
            <a:r>
              <a:rPr lang="en-US" altLang="zh-TW" dirty="0"/>
              <a:t>n8n</a:t>
            </a:r>
            <a:r>
              <a:rPr lang="zh-TW" altLang="en-US" dirty="0"/>
              <a:t>。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350048E-4F93-629B-049F-88388DB8D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447" y="756045"/>
            <a:ext cx="5641116" cy="534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0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369ADE-3E90-F38E-6B6E-540BD7863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的安裝 </a:t>
            </a:r>
            <a:r>
              <a:rPr lang="en-US" altLang="zh-TW" dirty="0"/>
              <a:t>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98712D-2F81-1287-488C-A04BD857B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確保你的路徑在 </a:t>
            </a:r>
            <a:r>
              <a:rPr lang="en-US" altLang="zh-TW" dirty="0">
                <a:solidFill>
                  <a:schemeClr val="accent2"/>
                </a:solidFill>
              </a:rPr>
              <a:t>User</a:t>
            </a:r>
            <a:r>
              <a:rPr lang="en-US" altLang="zh-TW" dirty="0"/>
              <a:t> </a:t>
            </a:r>
            <a:r>
              <a:rPr lang="zh-TW" altLang="en-US" dirty="0"/>
              <a:t>目錄之下。</a:t>
            </a:r>
            <a:endParaRPr lang="en-US" altLang="zh-TW" dirty="0"/>
          </a:p>
          <a:p>
            <a:r>
              <a:rPr lang="zh-TW" altLang="en-US" dirty="0"/>
              <a:t>請在命令提示字元中依序打入以下指令：</a:t>
            </a:r>
            <a:endParaRPr lang="en-US" altLang="zh-TW" dirty="0"/>
          </a:p>
          <a:p>
            <a:pPr lvl="1"/>
            <a:r>
              <a:rPr lang="pt-BR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 volume create n8n_data</a:t>
            </a:r>
          </a:p>
          <a:p>
            <a:pPr lvl="1"/>
            <a:r>
              <a:rPr lang="pt-BR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 run --name n8n -p 5678:5678 -v n8n_data:/home/node/.n8n -d n8nio/n8n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2674458-2C4D-3A90-CF93-28572C84DE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508"/>
          <a:stretch>
            <a:fillRect/>
          </a:stretch>
        </p:blipFill>
        <p:spPr>
          <a:xfrm>
            <a:off x="8525881" y="1066799"/>
            <a:ext cx="2521528" cy="155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964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B86A37-342A-A308-8FE8-817549389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安裝指令說明 </a:t>
            </a:r>
            <a:r>
              <a:rPr lang="en-US" altLang="zh-TW" dirty="0"/>
              <a:t>(1)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F7546D-2E42-C2DF-0CF9-82566D84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 volume create n8n_data</a:t>
            </a:r>
          </a:p>
          <a:p>
            <a:r>
              <a:rPr lang="zh-TW" altLang="en-US" dirty="0"/>
              <a:t>此指令會在 </a:t>
            </a:r>
            <a:r>
              <a:rPr lang="en-US" altLang="zh-TW" dirty="0"/>
              <a:t>docker </a:t>
            </a:r>
            <a:r>
              <a:rPr lang="zh-TW" altLang="en-US" dirty="0"/>
              <a:t>中創建一個名為 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n8n_data</a:t>
            </a:r>
            <a:r>
              <a:rPr lang="en-US" altLang="zh-TW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volume</a:t>
            </a:r>
            <a:r>
              <a:rPr lang="zh-TW" altLang="en-US" dirty="0"/>
              <a:t>，你可以想像成在 </a:t>
            </a:r>
            <a:r>
              <a:rPr lang="en-US" altLang="zh-TW" dirty="0"/>
              <a:t>docker </a:t>
            </a:r>
            <a:r>
              <a:rPr lang="zh-TW" altLang="en-US" dirty="0"/>
              <a:t>中清出一個叫做 </a:t>
            </a:r>
            <a:r>
              <a:rPr lang="en-US" altLang="zh-TW" dirty="0"/>
              <a:t>n8n_data </a:t>
            </a:r>
            <a:r>
              <a:rPr lang="zh-TW" altLang="en-US" dirty="0"/>
              <a:t>的倉庫。</a:t>
            </a:r>
          </a:p>
        </p:txBody>
      </p:sp>
    </p:spTree>
    <p:extLst>
      <p:ext uri="{BB962C8B-B14F-4D97-AF65-F5344CB8AC3E}">
        <p14:creationId xmlns:p14="http://schemas.microsoft.com/office/powerpoint/2010/main" val="41959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5E7F7A-27E6-FE32-7B54-CAA755F22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安裝指令說明 </a:t>
            </a:r>
            <a:r>
              <a:rPr lang="en-US" altLang="zh-TW" dirty="0"/>
              <a:t>(2)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390458-741F-10D7-F8AC-5289AF4FE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27867"/>
            <a:ext cx="9905999" cy="4638824"/>
          </a:xfrm>
        </p:spPr>
        <p:txBody>
          <a:bodyPr>
            <a:normAutofit fontScale="92500"/>
          </a:bodyPr>
          <a:lstStyle/>
          <a:p>
            <a:r>
              <a:rPr lang="pt-BR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 run --name n8n -p 5678:5678 -v n8n_data:/home/node/.n8n -d n8nio/n8n</a:t>
            </a:r>
          </a:p>
          <a:p>
            <a:r>
              <a:rPr lang="zh-TW" altLang="en-US" dirty="0"/>
              <a:t>此指令分為以下部分：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2"/>
                </a:solidFill>
                <a:latin typeface="Consolas" panose="020B0609020204030204" pitchFamily="49" charset="0"/>
              </a:rPr>
              <a:t>docker run</a:t>
            </a:r>
            <a:r>
              <a:rPr lang="zh-TW" altLang="en-US" dirty="0">
                <a:solidFill>
                  <a:schemeClr val="accent2"/>
                </a:solidFill>
              </a:rPr>
              <a:t>：</a:t>
            </a:r>
            <a:r>
              <a:rPr lang="zh-TW" altLang="en-US" dirty="0"/>
              <a:t>創建容器 </a:t>
            </a:r>
            <a:r>
              <a:rPr lang="en-US" altLang="zh-TW" dirty="0"/>
              <a:t>(Container) </a:t>
            </a:r>
            <a:r>
              <a:rPr lang="zh-TW" altLang="en-US" dirty="0"/>
              <a:t>的用語，你可以把每個容器都想像成獨立的房間，每個容器彼此都互不干涉。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2"/>
                </a:solidFill>
                <a:latin typeface="Consolas" panose="020B0609020204030204" pitchFamily="49" charset="0"/>
              </a:rPr>
              <a:t>--name</a:t>
            </a:r>
            <a:r>
              <a:rPr lang="zh-TW" altLang="en-US" dirty="0">
                <a:solidFill>
                  <a:schemeClr val="accent2"/>
                </a:solidFill>
              </a:rPr>
              <a:t>：</a:t>
            </a:r>
            <a:r>
              <a:rPr lang="zh-TW" altLang="en-US" dirty="0"/>
              <a:t>命名容器，這裡取名為 </a:t>
            </a:r>
            <a:r>
              <a:rPr lang="en-US" altLang="zh-TW" dirty="0"/>
              <a:t>n8n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2"/>
                </a:solidFill>
                <a:latin typeface="Consolas" panose="020B0609020204030204" pitchFamily="49" charset="0"/>
              </a:rPr>
              <a:t>-p</a:t>
            </a:r>
            <a:r>
              <a:rPr lang="zh-TW" altLang="en-US" dirty="0">
                <a:solidFill>
                  <a:schemeClr val="accent2"/>
                </a:solidFill>
              </a:rPr>
              <a:t>：</a:t>
            </a:r>
            <a:r>
              <a:rPr lang="zh-TW" altLang="en-US" dirty="0"/>
              <a:t>設定連接阜 </a:t>
            </a:r>
            <a:r>
              <a:rPr lang="en-US" altLang="zh-TW" dirty="0"/>
              <a:t>(</a:t>
            </a:r>
            <a:r>
              <a:rPr lang="zh-TW" altLang="en-US" dirty="0"/>
              <a:t>預設為 </a:t>
            </a:r>
            <a:r>
              <a:rPr lang="en-US" altLang="zh-TW" dirty="0"/>
              <a:t>5678:5678)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2"/>
                </a:solidFill>
                <a:latin typeface="Consolas" panose="020B0609020204030204" pitchFamily="49" charset="0"/>
              </a:rPr>
              <a:t>-v</a:t>
            </a:r>
            <a:r>
              <a:rPr lang="zh-TW" altLang="en-US" dirty="0">
                <a:solidFill>
                  <a:schemeClr val="accent2"/>
                </a:solidFill>
              </a:rPr>
              <a:t>：</a:t>
            </a:r>
            <a:r>
              <a:rPr lang="zh-TW" altLang="en-US" dirty="0"/>
              <a:t>選擇儲存的 </a:t>
            </a:r>
            <a:r>
              <a:rPr lang="en-US" altLang="zh-TW" dirty="0"/>
              <a:t>volume (</a:t>
            </a:r>
            <a:r>
              <a:rPr lang="zh-TW" altLang="en-US" dirty="0"/>
              <a:t>使用剛剛創建的 </a:t>
            </a:r>
            <a:r>
              <a:rPr lang="en-US" altLang="zh-TW" dirty="0"/>
              <a:t>n8n_data</a:t>
            </a:r>
            <a:r>
              <a:rPr lang="zh-TW" altLang="en-US" dirty="0"/>
              <a:t>，並在其後加入 </a:t>
            </a:r>
            <a:r>
              <a:rPr lang="pt-BR" altLang="zh-TW" dirty="0"/>
              <a:t>:/home/node/.n8n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2"/>
                </a:solidFill>
                <a:latin typeface="Consolas" panose="020B0609020204030204" pitchFamily="49" charset="0"/>
              </a:rPr>
              <a:t>-d</a:t>
            </a:r>
            <a:r>
              <a:rPr lang="zh-TW" altLang="en-US" dirty="0">
                <a:solidFill>
                  <a:schemeClr val="accent2"/>
                </a:solidFill>
              </a:rPr>
              <a:t>：</a:t>
            </a:r>
            <a:r>
              <a:rPr lang="zh-TW" altLang="en-US" dirty="0"/>
              <a:t>選擇映像檔 </a:t>
            </a:r>
            <a:r>
              <a:rPr lang="en-US" altLang="zh-TW" dirty="0"/>
              <a:t>(image)</a:t>
            </a:r>
            <a:r>
              <a:rPr lang="zh-TW" altLang="en-US" dirty="0"/>
              <a:t>，這裡使用 </a:t>
            </a:r>
            <a:r>
              <a:rPr lang="en-US" altLang="zh-TW" dirty="0"/>
              <a:t>n8nio/n8n (</a:t>
            </a:r>
            <a:r>
              <a:rPr lang="zh-TW" altLang="en-US" dirty="0"/>
              <a:t>不指定版本的情況下會預設下載最新版本</a:t>
            </a:r>
            <a:r>
              <a:rPr lang="en-US" altLang="zh-TW" dirty="0"/>
              <a:t>)</a:t>
            </a:r>
            <a:r>
              <a:rPr lang="zh-TW" altLang="en-US" dirty="0"/>
              <a:t>。映像檔可以理解為容器的心臟，</a:t>
            </a:r>
            <a:r>
              <a:rPr lang="en-US" altLang="zh-TW" dirty="0"/>
              <a:t>n8n </a:t>
            </a:r>
            <a:r>
              <a:rPr lang="zh-TW" altLang="en-US" dirty="0"/>
              <a:t>本身便是由這個映像檔安裝而來。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8329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B5B27B-7E33-43F3-9A9D-4C62C295B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資料庫的安裝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C0DE3F-8E87-CDE6-AED6-A31E2DC0F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許多的實作情境上都會需要使用到資料庫，這裡我們選擇下載 </a:t>
            </a:r>
            <a:r>
              <a:rPr lang="en-US" altLang="zh-TW" dirty="0"/>
              <a:t>PostgreSQL </a:t>
            </a:r>
            <a:r>
              <a:rPr lang="zh-TW" altLang="en-US" dirty="0"/>
              <a:t>資料庫來給 </a:t>
            </a:r>
            <a:r>
              <a:rPr lang="en-US" altLang="zh-TW" dirty="0"/>
              <a:t>n8n </a:t>
            </a:r>
            <a:r>
              <a:rPr lang="zh-TW" altLang="en-US" dirty="0"/>
              <a:t>做使用。</a:t>
            </a:r>
            <a:endParaRPr lang="en-US" altLang="zh-TW" dirty="0"/>
          </a:p>
          <a:p>
            <a:r>
              <a:rPr lang="zh-TW" altLang="en-US" dirty="0"/>
              <a:t>請在命令提示字元中依序打入以下指令：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 volume create 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postgres_data</a:t>
            </a:r>
            <a:endParaRPr lang="en-US" altLang="zh-TW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 run --name PostgreSQL-school -e POSTGRES_USER=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myuser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-e POSTGRES_PASSWORD=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mypassword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-e POSTGRES_DB=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schooldb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-p 5432:5432 -v 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postgres_data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:/var/lib/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postgresql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-d 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postgres</a:t>
            </a:r>
            <a:endParaRPr lang="en-US" altLang="zh-TW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78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214ACE-EBE9-51ED-CF2B-B8534466C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資料庫安裝指令說明 </a:t>
            </a:r>
            <a:r>
              <a:rPr lang="en-US" altLang="zh-TW" dirty="0"/>
              <a:t>(1)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1C1880-F01C-779B-FFF3-EA64DA495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 volume create 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postgres_data</a:t>
            </a:r>
            <a:endParaRPr lang="en-US" altLang="zh-TW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zh-TW" altLang="en-US" dirty="0"/>
              <a:t>跟上一個創建的 </a:t>
            </a:r>
            <a:r>
              <a:rPr lang="en-US" altLang="zh-TW" dirty="0"/>
              <a:t>volume </a:t>
            </a:r>
            <a:r>
              <a:rPr lang="zh-TW" altLang="en-US" dirty="0"/>
              <a:t>一樣，這次我們創建一個名為 </a:t>
            </a:r>
            <a:r>
              <a:rPr lang="en-US" altLang="zh-TW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postgres_data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zh-TW" altLang="en-US" dirty="0"/>
              <a:t>的 </a:t>
            </a:r>
            <a:r>
              <a:rPr lang="en-US" altLang="zh-TW" dirty="0"/>
              <a:t>volume</a:t>
            </a:r>
            <a:r>
              <a:rPr lang="zh-TW" altLang="en-US" dirty="0"/>
              <a:t>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24115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DDA232-7134-B403-C3CA-75B482381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資料庫安裝指令說明 </a:t>
            </a:r>
            <a:r>
              <a:rPr lang="en-US" altLang="zh-TW" dirty="0"/>
              <a:t>(2)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AD2778-FB32-532B-5CF5-36DC1493B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27867"/>
            <a:ext cx="9905999" cy="5220392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 run --name PostgreSQL-school -e POSTGRES_USER=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myuser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-e POSTGRES_PASSWORD=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mypassword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-e POSTGRES_DB=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schooldb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-p 5432:5432 -v 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postgres_data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:/var/lib/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postgresql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-d 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postgres</a:t>
            </a:r>
            <a:endParaRPr lang="en-US" altLang="zh-TW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zh-TW" altLang="en-US" dirty="0"/>
              <a:t>此指令分為以下部分：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docker run</a:t>
            </a:r>
            <a:r>
              <a:rPr lang="zh-TW" altLang="en-US" dirty="0"/>
              <a:t>：創建容器的指令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--name</a:t>
            </a:r>
            <a:r>
              <a:rPr lang="zh-TW" altLang="en-US" dirty="0"/>
              <a:t>：命名容器，此處命名為 </a:t>
            </a:r>
            <a:r>
              <a:rPr lang="en-US" altLang="zh-TW" dirty="0"/>
              <a:t>PostgreSQL-school</a:t>
            </a:r>
          </a:p>
          <a:p>
            <a:pPr lvl="1"/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-e</a:t>
            </a:r>
            <a:r>
              <a:rPr lang="zh-TW" altLang="en-US" dirty="0"/>
              <a:t>：環境變數，</a:t>
            </a:r>
            <a:endParaRPr lang="en-US" altLang="zh-TW" dirty="0"/>
          </a:p>
          <a:p>
            <a:pPr lvl="2"/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POSTGRES_USER</a:t>
            </a:r>
            <a:r>
              <a:rPr lang="zh-TW" altLang="en-US" dirty="0"/>
              <a:t>：設定使用者名稱，此處設為 </a:t>
            </a:r>
            <a:r>
              <a:rPr lang="en-US" altLang="zh-TW" dirty="0" err="1"/>
              <a:t>myuser</a:t>
            </a:r>
            <a:endParaRPr lang="en-US" altLang="zh-TW" dirty="0"/>
          </a:p>
          <a:p>
            <a:pPr lvl="2"/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POSTGRES_PASSWORD</a:t>
            </a:r>
            <a:r>
              <a:rPr lang="zh-TW" altLang="en-US" dirty="0"/>
              <a:t>：設定密碼，此處設為 </a:t>
            </a:r>
            <a:r>
              <a:rPr lang="en-US" altLang="zh-TW" dirty="0" err="1"/>
              <a:t>mypassword</a:t>
            </a:r>
            <a:endParaRPr lang="en-US" altLang="zh-TW" dirty="0"/>
          </a:p>
          <a:p>
            <a:pPr lvl="2"/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POSTGRES_DB</a:t>
            </a:r>
            <a:r>
              <a:rPr lang="zh-TW" altLang="en-US" dirty="0"/>
              <a:t>：創建並命名資料庫，此處設為 </a:t>
            </a:r>
            <a:r>
              <a:rPr lang="en-US" altLang="zh-TW" dirty="0" err="1"/>
              <a:t>schooldb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-p</a:t>
            </a:r>
            <a:r>
              <a:rPr lang="zh-TW" altLang="en-US" dirty="0"/>
              <a:t>：設定連接阜 </a:t>
            </a:r>
            <a:r>
              <a:rPr lang="en-US" altLang="zh-TW" dirty="0"/>
              <a:t>(</a:t>
            </a:r>
            <a:r>
              <a:rPr lang="zh-TW" altLang="en-US" dirty="0"/>
              <a:t>預設為 </a:t>
            </a:r>
            <a:r>
              <a:rPr lang="en-US" altLang="zh-TW" dirty="0"/>
              <a:t>5432:5432)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-v</a:t>
            </a:r>
            <a:r>
              <a:rPr lang="zh-TW" altLang="en-US" dirty="0"/>
              <a:t>：選擇儲存的 </a:t>
            </a:r>
            <a:r>
              <a:rPr lang="en-US" altLang="zh-TW" dirty="0"/>
              <a:t>volume</a:t>
            </a:r>
            <a:r>
              <a:rPr lang="zh-TW" altLang="en-US" dirty="0"/>
              <a:t>，使用 </a:t>
            </a:r>
            <a:r>
              <a:rPr lang="en-US" altLang="zh-TW" dirty="0" err="1"/>
              <a:t>postgres_data</a:t>
            </a:r>
            <a:r>
              <a:rPr lang="en-US" altLang="zh-TW" dirty="0"/>
              <a:t> </a:t>
            </a:r>
            <a:r>
              <a:rPr lang="zh-TW" altLang="en-US" dirty="0"/>
              <a:t>並在其後加上 </a:t>
            </a:r>
            <a:r>
              <a:rPr lang="en-US" altLang="zh-TW" dirty="0"/>
              <a:t>:/var/lib/</a:t>
            </a:r>
            <a:r>
              <a:rPr lang="en-US" altLang="zh-TW" dirty="0" err="1"/>
              <a:t>postgresql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-d</a:t>
            </a:r>
            <a:r>
              <a:rPr lang="zh-TW" altLang="en-US" dirty="0"/>
              <a:t>：選擇映像檔 </a:t>
            </a:r>
            <a:r>
              <a:rPr lang="en-US" altLang="zh-TW" dirty="0"/>
              <a:t>(image)</a:t>
            </a:r>
            <a:r>
              <a:rPr lang="zh-TW" altLang="en-US" dirty="0"/>
              <a:t>，這裡使用 </a:t>
            </a:r>
            <a:r>
              <a:rPr lang="en-US" altLang="zh-TW" dirty="0" err="1"/>
              <a:t>postgres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34583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2DF6B2-02CA-4825-750A-9467A7263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與資料庫安裝完成確認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25377A-017D-5344-506E-1F060C4AC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27867"/>
            <a:ext cx="3606079" cy="4463333"/>
          </a:xfrm>
        </p:spPr>
        <p:txBody>
          <a:bodyPr/>
          <a:lstStyle/>
          <a:p>
            <a:r>
              <a:rPr lang="zh-TW" altLang="en-US" dirty="0"/>
              <a:t>若操作正確，則 </a:t>
            </a:r>
            <a:r>
              <a:rPr lang="en-US" altLang="zh-TW" dirty="0"/>
              <a:t>docker desktop </a:t>
            </a:r>
            <a:r>
              <a:rPr lang="zh-TW" altLang="en-US" dirty="0"/>
              <a:t>應如右圖，容器皆為開啟的狀態。</a:t>
            </a:r>
            <a:endParaRPr lang="en-US" altLang="zh-TW" dirty="0"/>
          </a:p>
          <a:p>
            <a:r>
              <a:rPr lang="zh-TW" altLang="en-US" dirty="0"/>
              <a:t>若容器不是開啟的狀態，請檢察前者指令是否輸入錯誤。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1AF4545-0C8D-012A-B699-B7DBB095D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236" y="1495157"/>
            <a:ext cx="6758898" cy="386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42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27D269-3C3F-082C-F103-A6B63A7B9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與資料庫安裝完成 </a:t>
            </a:r>
            <a:r>
              <a:rPr lang="en-US" altLang="zh-TW" dirty="0"/>
              <a:t>(?)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7E682E-98D7-2812-87D4-236F30147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那麼如此 </a:t>
            </a:r>
            <a:r>
              <a:rPr lang="en-US" altLang="zh-TW" dirty="0"/>
              <a:t>n8n </a:t>
            </a:r>
            <a:r>
              <a:rPr lang="zh-TW" altLang="en-US" dirty="0"/>
              <a:t>和資料庫就安裝完成了</a:t>
            </a:r>
            <a:endParaRPr lang="en-US" altLang="zh-TW" dirty="0"/>
          </a:p>
          <a:p>
            <a:r>
              <a:rPr lang="zh-TW" altLang="en-US" dirty="0"/>
              <a:t>若此時嘗試將 </a:t>
            </a:r>
            <a:r>
              <a:rPr lang="en-US" altLang="zh-TW" dirty="0"/>
              <a:t>n8n </a:t>
            </a:r>
            <a:r>
              <a:rPr lang="zh-TW" altLang="en-US" dirty="0"/>
              <a:t>連接至資料庫，</a:t>
            </a:r>
            <a:r>
              <a:rPr lang="en-US" altLang="zh-TW" dirty="0"/>
              <a:t>n8n</a:t>
            </a:r>
            <a:r>
              <a:rPr lang="zh-TW" altLang="en-US" dirty="0"/>
              <a:t> 會找不到資料庫。</a:t>
            </a:r>
            <a:endParaRPr lang="en-US" altLang="zh-TW" dirty="0"/>
          </a:p>
          <a:p>
            <a:r>
              <a:rPr lang="zh-TW" altLang="en-US" dirty="0"/>
              <a:t>為什麼 </a:t>
            </a:r>
            <a:r>
              <a:rPr lang="en-US" altLang="zh-TW" dirty="0"/>
              <a:t>?</a:t>
            </a:r>
          </a:p>
          <a:p>
            <a:pPr lvl="1"/>
            <a:r>
              <a:rPr lang="en-US" altLang="zh-TW" dirty="0"/>
              <a:t>Docker </a:t>
            </a:r>
            <a:r>
              <a:rPr lang="zh-TW" altLang="en-US" dirty="0"/>
              <a:t>中的容器彼此之間獨立存在，互不干涉。</a:t>
            </a:r>
            <a:r>
              <a:rPr lang="en-US" altLang="zh-TW" dirty="0"/>
              <a:t>n8n </a:t>
            </a:r>
            <a:r>
              <a:rPr lang="zh-TW" altLang="en-US" dirty="0"/>
              <a:t>和 </a:t>
            </a:r>
            <a:r>
              <a:rPr lang="en-US" altLang="zh-TW" dirty="0"/>
              <a:t>PostgreSQL </a:t>
            </a:r>
            <a:r>
              <a:rPr lang="zh-TW" altLang="en-US" dirty="0"/>
              <a:t>各自存於不同的容器，彼此並無法進行溝通。</a:t>
            </a:r>
            <a:endParaRPr lang="en-US" altLang="zh-TW" dirty="0"/>
          </a:p>
          <a:p>
            <a:r>
              <a:rPr lang="zh-TW" altLang="en-US" dirty="0"/>
              <a:t>怎麼辦 </a:t>
            </a:r>
            <a:r>
              <a:rPr lang="en-US" altLang="zh-TW" dirty="0"/>
              <a:t>?</a:t>
            </a:r>
          </a:p>
          <a:p>
            <a:pPr lvl="1"/>
            <a:r>
              <a:rPr lang="zh-TW" altLang="en-US" dirty="0"/>
              <a:t>在 </a:t>
            </a:r>
            <a:r>
              <a:rPr lang="en-US" altLang="zh-TW" dirty="0"/>
              <a:t>Docker </a:t>
            </a:r>
            <a:r>
              <a:rPr lang="zh-TW" altLang="en-US" dirty="0"/>
              <a:t>中構建一條虛擬網路，使容器之間能用這條通道互相溝通。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E0D159D-30E8-5354-2243-46E72E905C0C}"/>
              </a:ext>
            </a:extLst>
          </p:cNvPr>
          <p:cNvSpPr txBox="1"/>
          <p:nvPr/>
        </p:nvSpPr>
        <p:spPr>
          <a:xfrm>
            <a:off x="6288373" y="1392522"/>
            <a:ext cx="999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嗎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4312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680219-5E5F-686E-4F32-ED6C21496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與資料庫的虛擬網路創建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396100-B251-EA2F-28D1-DAFB68841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為了製造一條虛擬網路，一樣先打開命令提示字元</a:t>
            </a:r>
            <a:endParaRPr lang="en-US" altLang="zh-TW" dirty="0"/>
          </a:p>
          <a:p>
            <a:r>
              <a:rPr lang="zh-TW" altLang="en-US" dirty="0"/>
              <a:t>輸入以下指令：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 network create 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my_internal_net</a:t>
            </a:r>
            <a:endParaRPr lang="en-US" altLang="zh-TW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zh-TW" altLang="en-US" dirty="0"/>
              <a:t>這條指令會新增一條名為 </a:t>
            </a:r>
            <a:r>
              <a:rPr lang="en-US" altLang="zh-TW" dirty="0" err="1">
                <a:solidFill>
                  <a:schemeClr val="accent2"/>
                </a:solidFill>
                <a:latin typeface="Consolas" panose="020B0609020204030204" pitchFamily="49" charset="0"/>
              </a:rPr>
              <a:t>my_internal_net</a:t>
            </a:r>
            <a:r>
              <a:rPr lang="en-US" altLang="zh-TW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zh-TW" altLang="en-US" dirty="0"/>
              <a:t>的虛擬網路，用於連接 </a:t>
            </a:r>
            <a:r>
              <a:rPr lang="en-US" altLang="zh-TW" dirty="0"/>
              <a:t>n8n </a:t>
            </a:r>
            <a:r>
              <a:rPr lang="zh-TW" altLang="en-US" dirty="0"/>
              <a:t>和資料庫。</a:t>
            </a:r>
          </a:p>
        </p:txBody>
      </p:sp>
    </p:spTree>
    <p:extLst>
      <p:ext uri="{BB962C8B-B14F-4D97-AF65-F5344CB8AC3E}">
        <p14:creationId xmlns:p14="http://schemas.microsoft.com/office/powerpoint/2010/main" val="220714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C736B9-3635-F8D5-FE1F-5F7189A73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與資料庫的容器刪除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19A2F5-7208-D8C9-3EFF-057889EB3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27867"/>
            <a:ext cx="9905999" cy="4888206"/>
          </a:xfrm>
        </p:spPr>
        <p:txBody>
          <a:bodyPr>
            <a:normAutofit/>
          </a:bodyPr>
          <a:lstStyle/>
          <a:p>
            <a:r>
              <a:rPr lang="zh-TW" altLang="en-US" dirty="0"/>
              <a:t>由於連接虛擬網路只能夠在創建容器時執行，我們必須先將原本的容器刪除。</a:t>
            </a:r>
            <a:endParaRPr lang="en-US" altLang="zh-TW" dirty="0"/>
          </a:p>
          <a:p>
            <a:r>
              <a:rPr lang="zh-TW" altLang="en-US" dirty="0"/>
              <a:t>若容器是開啟狀態，在命令提示字元輸入以下指令：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 stop n8n</a:t>
            </a:r>
          </a:p>
          <a:p>
            <a:pPr lvl="1"/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 stop PostgreSQL-school</a:t>
            </a:r>
          </a:p>
          <a:p>
            <a:pPr lvl="1"/>
            <a:r>
              <a:rPr lang="zh-TW" altLang="en-US" dirty="0"/>
              <a:t>以上指令會關閉名為 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</a:rPr>
              <a:t>n8n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</a:rPr>
              <a:t>PostgreSQL-school</a:t>
            </a:r>
            <a:r>
              <a:rPr lang="en-US" altLang="zh-TW" dirty="0"/>
              <a:t> </a:t>
            </a:r>
            <a:r>
              <a:rPr lang="zh-TW" altLang="en-US" dirty="0"/>
              <a:t>的容器。</a:t>
            </a:r>
            <a:endParaRPr lang="en-US" altLang="zh-TW" dirty="0"/>
          </a:p>
          <a:p>
            <a:r>
              <a:rPr lang="zh-TW" altLang="en-US" dirty="0"/>
              <a:t>若容器已關閉，則輸入以下指令：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 rm n8n</a:t>
            </a:r>
          </a:p>
          <a:p>
            <a:pPr lvl="1"/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 rm PostgreSQL-school</a:t>
            </a:r>
          </a:p>
          <a:p>
            <a:pPr lvl="1"/>
            <a:r>
              <a:rPr lang="zh-TW" altLang="en-US" dirty="0"/>
              <a:t>以上指令會刪除名為 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</a:rPr>
              <a:t>n8n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</a:rPr>
              <a:t>PostgreSQL-school</a:t>
            </a:r>
            <a:r>
              <a:rPr lang="en-US" altLang="zh-TW" dirty="0"/>
              <a:t> </a:t>
            </a:r>
            <a:r>
              <a:rPr lang="zh-TW" altLang="en-US" dirty="0"/>
              <a:t>的容器。</a:t>
            </a:r>
          </a:p>
        </p:txBody>
      </p:sp>
    </p:spTree>
    <p:extLst>
      <p:ext uri="{BB962C8B-B14F-4D97-AF65-F5344CB8AC3E}">
        <p14:creationId xmlns:p14="http://schemas.microsoft.com/office/powerpoint/2010/main" val="262161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78BEF2-B3A5-FB9E-200C-F9C642729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與資料庫的連接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42FB96-9981-7AA5-774E-319ABBEBB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/>
              <a:t>完成上述步驟後，我們接著要創建有虛擬網路連接的 </a:t>
            </a:r>
            <a:r>
              <a:rPr lang="en-US" altLang="zh-TW" dirty="0"/>
              <a:t>n8n </a:t>
            </a:r>
            <a:r>
              <a:rPr lang="zh-TW" altLang="en-US" dirty="0"/>
              <a:t>和資料庫容器。</a:t>
            </a:r>
            <a:endParaRPr lang="en-US" altLang="zh-TW" dirty="0"/>
          </a:p>
          <a:p>
            <a:r>
              <a:rPr lang="zh-TW" altLang="en-US" dirty="0"/>
              <a:t>輸入以下指令：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 run --name n8n 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--network </a:t>
            </a:r>
            <a:r>
              <a:rPr lang="en-US" altLang="zh-TW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my_internal_net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-p 5678:5678 -v n8n_data:/home/node/.n8n -d n8nio/n8n</a:t>
            </a:r>
          </a:p>
          <a:p>
            <a:pPr lvl="1"/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 run --name PostgreSQL-school 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--network </a:t>
            </a:r>
            <a:r>
              <a:rPr lang="en-US" altLang="zh-TW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my_internal_net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-e POSTGRES_USER=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myuser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-e POSTGRES_PASSWORD=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mypassword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-e POSTGRES_DB=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schooldb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-p 5432:5432 -v 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postgres_data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:/var/lib/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postgresql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-d 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postgres</a:t>
            </a:r>
            <a:endParaRPr lang="en-US" altLang="zh-TW" dirty="0"/>
          </a:p>
          <a:p>
            <a:r>
              <a:rPr lang="zh-TW" altLang="en-US" dirty="0"/>
              <a:t>在裡面加入 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–network</a:t>
            </a:r>
            <a:r>
              <a:rPr lang="zh-TW" altLang="en-U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zh-TW" altLang="en-US" dirty="0"/>
              <a:t>指令後，</a:t>
            </a:r>
            <a:r>
              <a:rPr lang="en-US" altLang="zh-TW" dirty="0"/>
              <a:t>n8n </a:t>
            </a:r>
            <a:r>
              <a:rPr lang="zh-TW" altLang="en-US" dirty="0"/>
              <a:t>和資料庫便能透過這條通道進行溝通了。</a:t>
            </a:r>
            <a:endParaRPr lang="en-US" altLang="zh-TW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30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69747-9825-C0EA-3AE5-D79B3A4AB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B87113-0839-62AE-77CA-1D6A0C15A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n8n </a:t>
            </a:r>
            <a:r>
              <a:rPr lang="zh-TW" altLang="en-US" dirty="0"/>
              <a:t>與資料庫安裝完成確認 </a:t>
            </a:r>
            <a:r>
              <a:rPr lang="en-US" altLang="zh-TW" dirty="0"/>
              <a:t>– </a:t>
            </a:r>
            <a:r>
              <a:rPr lang="zh-TW" altLang="en-US" dirty="0"/>
              <a:t>虛擬網路已連接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622C40-97C5-2B47-3C38-7B4163830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27867"/>
            <a:ext cx="3606079" cy="4463333"/>
          </a:xfrm>
        </p:spPr>
        <p:txBody>
          <a:bodyPr/>
          <a:lstStyle/>
          <a:p>
            <a:r>
              <a:rPr lang="zh-TW" altLang="en-US" dirty="0">
                <a:solidFill>
                  <a:schemeClr val="accent2">
                    <a:lumMod val="75000"/>
                  </a:schemeClr>
                </a:solidFill>
              </a:rPr>
              <a:t>再次確認</a:t>
            </a:r>
            <a:r>
              <a:rPr lang="zh-TW" altLang="en-US" dirty="0"/>
              <a:t>，若操作正確，則 </a:t>
            </a:r>
            <a:r>
              <a:rPr lang="en-US" altLang="zh-TW" dirty="0"/>
              <a:t>docker desktop </a:t>
            </a:r>
            <a:r>
              <a:rPr lang="zh-TW" altLang="en-US" dirty="0"/>
              <a:t>應如右圖，容器皆為開啟的狀態。</a:t>
            </a:r>
            <a:endParaRPr lang="en-US" altLang="zh-TW" dirty="0"/>
          </a:p>
          <a:p>
            <a:r>
              <a:rPr lang="zh-TW" altLang="en-US" dirty="0"/>
              <a:t>若容器不是開啟的狀態，請檢察前者指令是否輸入錯誤。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EC80099-5998-0948-77A3-A94983899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236" y="1495157"/>
            <a:ext cx="6758898" cy="386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93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EA563-E601-A332-17FA-B5B9C9398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4C7F5F-9196-FFF9-44DE-AB1196637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與資料庫安裝完成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64681F-E78A-A96E-8524-04CED0D40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如此，</a:t>
            </a:r>
            <a:r>
              <a:rPr lang="en-US" altLang="zh-TW" dirty="0"/>
              <a:t>n8n </a:t>
            </a:r>
            <a:r>
              <a:rPr lang="zh-TW" altLang="en-US" dirty="0"/>
              <a:t>和資料庫就安裝完成了。</a:t>
            </a:r>
            <a:endParaRPr lang="en-US" altLang="zh-TW" dirty="0"/>
          </a:p>
          <a:p>
            <a:r>
              <a:rPr lang="zh-TW" altLang="en-US" dirty="0"/>
              <a:t>請依序點開 </a:t>
            </a:r>
            <a:r>
              <a:rPr lang="en-US" altLang="zh-TW" dirty="0"/>
              <a:t>Containers -&gt; n8n </a:t>
            </a:r>
            <a:r>
              <a:rPr lang="zh-TW" altLang="en-US" dirty="0"/>
              <a:t>容器。</a:t>
            </a:r>
            <a:endParaRPr lang="en-US" altLang="zh-TW" dirty="0"/>
          </a:p>
          <a:p>
            <a:r>
              <a:rPr lang="zh-TW" altLang="en-US" dirty="0"/>
              <a:t>接著，點擊以下網址，如此便能抵達 </a:t>
            </a:r>
            <a:r>
              <a:rPr lang="en-US" altLang="zh-TW" dirty="0"/>
              <a:t>n8n </a:t>
            </a:r>
            <a:r>
              <a:rPr lang="zh-TW" altLang="en-US" dirty="0"/>
              <a:t>的介面了。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E85127F-051C-4441-4102-6E968E63B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404" y="2673345"/>
            <a:ext cx="8689191" cy="325640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810C084E-49DF-9E0C-D566-9B9FA5E8B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660" y="3559533"/>
            <a:ext cx="285750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12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81214-0463-39AB-2A2A-4AB5EEBD0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364B62F-E7F9-3578-9E33-76FCC607B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目錄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DD21176-B8F7-FC01-C5C7-6D422991D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/>
              <a:t>n8n</a:t>
            </a:r>
            <a:r>
              <a:rPr lang="zh-TW" altLang="en-US" sz="2800" dirty="0"/>
              <a:t> 的特色與優勢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與資料庫的安裝</a:t>
            </a:r>
            <a:endParaRPr lang="en-US" altLang="zh-TW" sz="2800" dirty="0"/>
          </a:p>
          <a:p>
            <a:r>
              <a:rPr lang="en-US" altLang="zh-TW" sz="2800" dirty="0">
                <a:solidFill>
                  <a:schemeClr val="accent2"/>
                </a:solidFill>
              </a:rPr>
              <a:t>n8n </a:t>
            </a:r>
            <a:r>
              <a:rPr lang="zh-TW" altLang="en-US" sz="2800" dirty="0">
                <a:solidFill>
                  <a:schemeClr val="accent2"/>
                </a:solidFill>
              </a:rPr>
              <a:t>的介面與基本功能介紹</a:t>
            </a:r>
            <a:endParaRPr lang="en-US" altLang="zh-TW" sz="2800" dirty="0">
              <a:solidFill>
                <a:schemeClr val="accent2"/>
              </a:solidFill>
            </a:endParaRPr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的 </a:t>
            </a:r>
            <a:r>
              <a:rPr lang="en-US" altLang="zh-TW" sz="2800" dirty="0"/>
              <a:t>API</a:t>
            </a:r>
            <a:r>
              <a:rPr lang="zh-TW" altLang="en-US" sz="2800" dirty="0"/>
              <a:t> 憑證取得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的情境實作：每月郵件寄送系統</a:t>
            </a:r>
            <a:endParaRPr lang="en-US" altLang="zh-TW" sz="2800" dirty="0"/>
          </a:p>
          <a:p>
            <a:r>
              <a:rPr lang="zh-TW" altLang="en-US" sz="2800" dirty="0"/>
              <a:t>額外補充</a:t>
            </a:r>
            <a:endParaRPr lang="en-US" altLang="zh-TW" sz="28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4150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50FA96-2829-9CEF-E323-D65E3D2F3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的註冊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2C396B-7AE4-D840-1FCF-C9E53DDAA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27867"/>
            <a:ext cx="5850515" cy="4463333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進入 </a:t>
            </a:r>
            <a:r>
              <a:rPr lang="en-US" altLang="zh-TW" dirty="0"/>
              <a:t>n8n </a:t>
            </a:r>
            <a:r>
              <a:rPr lang="zh-TW" altLang="en-US" dirty="0"/>
              <a:t>後，首先會來到這個介面。</a:t>
            </a:r>
            <a:endParaRPr lang="en-US" altLang="zh-TW" dirty="0"/>
          </a:p>
          <a:p>
            <a:r>
              <a:rPr lang="zh-TW" altLang="en-US" dirty="0"/>
              <a:t>依序填入自己的電子郵件、姓名和密碼，填完後按 </a:t>
            </a:r>
            <a:r>
              <a:rPr lang="en-US" altLang="zh-TW" dirty="0"/>
              <a:t>Next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接著直接點選 </a:t>
            </a:r>
            <a:r>
              <a:rPr lang="en-US" altLang="zh-TW" dirty="0"/>
              <a:t>Get started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license key </a:t>
            </a:r>
            <a:r>
              <a:rPr lang="zh-TW" altLang="en-US" dirty="0"/>
              <a:t>建議取得，往後工作流比較好管理。</a:t>
            </a:r>
            <a:endParaRPr lang="en-US" altLang="zh-TW" dirty="0"/>
          </a:p>
          <a:p>
            <a:r>
              <a:rPr lang="zh-TW" altLang="en-US" dirty="0"/>
              <a:t>要啟動 </a:t>
            </a:r>
            <a:r>
              <a:rPr lang="en-US" altLang="zh-TW" dirty="0"/>
              <a:t>license key</a:t>
            </a:r>
            <a:r>
              <a:rPr lang="zh-TW" altLang="en-US" dirty="0"/>
              <a:t>，到自己的 </a:t>
            </a:r>
            <a:r>
              <a:rPr lang="en-US" altLang="zh-TW" dirty="0"/>
              <a:t>Gmail </a:t>
            </a:r>
            <a:r>
              <a:rPr lang="zh-TW" altLang="en-US" dirty="0"/>
              <a:t>中尋找信件，點選 </a:t>
            </a:r>
            <a:r>
              <a:rPr lang="en-US" altLang="zh-TW" dirty="0"/>
              <a:t>Activate License Key </a:t>
            </a:r>
            <a:r>
              <a:rPr lang="zh-TW" altLang="en-US" dirty="0"/>
              <a:t>即可。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F5B0669-126D-3517-E822-2EA293DA0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099" y="401782"/>
            <a:ext cx="3490906" cy="605443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244DACD-203E-C900-E2AA-143CEFA3F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647" y="533399"/>
            <a:ext cx="4398480" cy="579120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12D3F78E-17BC-27B3-9B3A-71612B8A8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3555" y="688270"/>
            <a:ext cx="4892664" cy="527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74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A061C5-D212-5D6B-BB28-54856BA6E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</a:t>
            </a:r>
            <a:r>
              <a:rPr lang="zh-TW" altLang="en-US" dirty="0"/>
              <a:t> 的介面簡介 </a:t>
            </a:r>
            <a:r>
              <a:rPr lang="en-US" altLang="zh-TW" dirty="0"/>
              <a:t>– </a:t>
            </a:r>
            <a:r>
              <a:rPr lang="zh-TW" altLang="en-US" dirty="0"/>
              <a:t>初始介面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46E5B2-4AFF-633A-2206-4C8ADB583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註冊完成後，首先會看到這個畫面。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DA2B3CA-3AC5-5DD2-A54A-06A78E134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719" y="1971209"/>
            <a:ext cx="8377382" cy="450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7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93DA45-BF1F-25CB-2DDA-81E0FF911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介面簡介 </a:t>
            </a:r>
            <a:r>
              <a:rPr lang="en-US" altLang="zh-TW" dirty="0"/>
              <a:t>– </a:t>
            </a:r>
            <a:r>
              <a:rPr lang="zh-TW" altLang="en-US" dirty="0"/>
              <a:t>工作流介面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0AE880-0132-F10D-23A3-9B483569E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進入工作流後，會看到以下介面。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143FBDC-B57E-BE05-D22C-FBA4909EF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719" y="2183444"/>
            <a:ext cx="7869381" cy="421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76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FC4B5E-1334-C806-BBA1-D639C88AE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介面簡介 </a:t>
            </a:r>
            <a:r>
              <a:rPr lang="en-US" altLang="zh-TW" dirty="0"/>
              <a:t>– </a:t>
            </a:r>
            <a:r>
              <a:rPr lang="zh-TW" altLang="en-US" dirty="0"/>
              <a:t>主介面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302588-2F8F-0A71-9EBF-B8493E962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返回 </a:t>
            </a:r>
            <a:r>
              <a:rPr lang="en-US" altLang="zh-TW" dirty="0"/>
              <a:t>Overview </a:t>
            </a:r>
            <a:r>
              <a:rPr lang="zh-TW" altLang="en-US" dirty="0"/>
              <a:t>介面 </a:t>
            </a:r>
            <a:r>
              <a:rPr lang="en-US" altLang="zh-TW" dirty="0"/>
              <a:t>(</a:t>
            </a:r>
            <a:r>
              <a:rPr lang="zh-TW" altLang="en-US" dirty="0"/>
              <a:t>點擊</a:t>
            </a:r>
            <a:r>
              <a:rPr lang="zh-TW" altLang="en-US" dirty="0">
                <a:solidFill>
                  <a:schemeClr val="accent2">
                    <a:lumMod val="75000"/>
                  </a:schemeClr>
                </a:solidFill>
              </a:rPr>
              <a:t>左方房子圖示</a:t>
            </a:r>
            <a:r>
              <a:rPr lang="en-US" altLang="zh-TW" dirty="0"/>
              <a:t>)</a:t>
            </a:r>
            <a:r>
              <a:rPr lang="zh-TW" altLang="en-US" dirty="0"/>
              <a:t>，會看到介面出現變化。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ABF9065-A6D1-3909-F7DA-5130294CD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28" y="1968821"/>
            <a:ext cx="8220364" cy="439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54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01F08-A796-DD8B-FFDE-7F75D3AB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D2AB92E-BDB6-234D-C9C6-D3D85D9B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目錄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A4F598F-F1C9-6B07-C352-04F5BACDE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/>
              <a:t>n8n</a:t>
            </a:r>
            <a:r>
              <a:rPr lang="zh-TW" altLang="en-US" sz="2800" dirty="0"/>
              <a:t> 的特色與優勢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與資料庫的安裝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的介面與基本功能介紹</a:t>
            </a:r>
            <a:endParaRPr lang="en-US" altLang="zh-TW" sz="2800" dirty="0"/>
          </a:p>
          <a:p>
            <a:r>
              <a:rPr lang="en-US" altLang="zh-TW" sz="2800" dirty="0">
                <a:solidFill>
                  <a:schemeClr val="accent2">
                    <a:lumMod val="75000"/>
                  </a:schemeClr>
                </a:solidFill>
              </a:rPr>
              <a:t>n8n </a:t>
            </a:r>
            <a:r>
              <a:rPr lang="zh-TW" altLang="en-US" sz="2800" dirty="0">
                <a:solidFill>
                  <a:schemeClr val="accent2">
                    <a:lumMod val="75000"/>
                  </a:schemeClr>
                </a:solidFill>
              </a:rPr>
              <a:t>的 </a:t>
            </a:r>
            <a:r>
              <a:rPr lang="en-US" altLang="zh-TW" sz="2800" dirty="0">
                <a:solidFill>
                  <a:schemeClr val="accent2">
                    <a:lumMod val="75000"/>
                  </a:schemeClr>
                </a:solidFill>
              </a:rPr>
              <a:t>API</a:t>
            </a:r>
            <a:r>
              <a:rPr lang="zh-TW" altLang="en-US" sz="2800" dirty="0">
                <a:solidFill>
                  <a:schemeClr val="accent2">
                    <a:lumMod val="75000"/>
                  </a:schemeClr>
                </a:solidFill>
              </a:rPr>
              <a:t> 憑證取得</a:t>
            </a:r>
            <a:endParaRPr lang="en-US" altLang="zh-TW" sz="28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的情境實作：每月郵件寄送系統</a:t>
            </a:r>
            <a:endParaRPr lang="en-US" altLang="zh-TW" sz="2800" dirty="0"/>
          </a:p>
          <a:p>
            <a:r>
              <a:rPr lang="zh-TW" altLang="en-US" sz="2800" dirty="0"/>
              <a:t>額外補充</a:t>
            </a:r>
            <a:endParaRPr lang="en-US" altLang="zh-TW" sz="28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7028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27A495-639E-F830-55E1-2D1B0A972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Credential (</a:t>
            </a:r>
            <a:r>
              <a:rPr lang="zh-TW" altLang="en-US" dirty="0"/>
              <a:t>憑證</a:t>
            </a:r>
            <a:r>
              <a:rPr lang="en-US" altLang="zh-TW" dirty="0"/>
              <a:t>)</a:t>
            </a:r>
            <a:r>
              <a:rPr lang="zh-TW" altLang="en-US" dirty="0"/>
              <a:t> 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0FF69C-E742-CDDD-BE5E-CE172203E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Credential </a:t>
            </a:r>
            <a:r>
              <a:rPr lang="zh-TW" altLang="en-US" dirty="0"/>
              <a:t>是 </a:t>
            </a:r>
            <a:r>
              <a:rPr lang="en-US" altLang="zh-TW" dirty="0"/>
              <a:t>n8n </a:t>
            </a:r>
            <a:r>
              <a:rPr lang="zh-TW" altLang="en-US" dirty="0"/>
              <a:t>與上百個應用程式溝通的鑰匙。</a:t>
            </a:r>
            <a:endParaRPr lang="en-US" altLang="zh-TW" dirty="0"/>
          </a:p>
          <a:p>
            <a:r>
              <a:rPr lang="en-US" altLang="zh-TW" dirty="0"/>
              <a:t>Credential </a:t>
            </a:r>
            <a:r>
              <a:rPr lang="zh-TW" altLang="en-US" dirty="0"/>
              <a:t>可分為以下幾種類別：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2">
                    <a:lumMod val="75000"/>
                  </a:schemeClr>
                </a:solidFill>
              </a:rPr>
              <a:t>API </a:t>
            </a:r>
            <a:r>
              <a:rPr lang="zh-TW" altLang="en-US" dirty="0">
                <a:solidFill>
                  <a:schemeClr val="accent2">
                    <a:lumMod val="75000"/>
                  </a:schemeClr>
                </a:solidFill>
              </a:rPr>
              <a:t>金鑰</a:t>
            </a:r>
            <a:r>
              <a:rPr lang="zh-TW" altLang="en-US" dirty="0"/>
              <a:t>：使用鑰匙獲得授權，但風險較高。</a:t>
            </a:r>
            <a:endParaRPr lang="en-US" altLang="zh-TW" dirty="0"/>
          </a:p>
          <a:p>
            <a:pPr lvl="2"/>
            <a:r>
              <a:rPr lang="en-US" altLang="zh-TW" dirty="0"/>
              <a:t>ChatGPT, Google Gemini</a:t>
            </a:r>
          </a:p>
          <a:p>
            <a:pPr lvl="1"/>
            <a:r>
              <a:rPr lang="en-US" altLang="zh-TW" dirty="0">
                <a:solidFill>
                  <a:schemeClr val="accent2">
                    <a:lumMod val="75000"/>
                  </a:schemeClr>
                </a:solidFill>
              </a:rPr>
              <a:t>OAuth</a:t>
            </a:r>
            <a:r>
              <a:rPr lang="zh-TW" altLang="en-US" dirty="0"/>
              <a:t>：不用鑰匙也能獲得授權，風險低，但初始設置較麻煩。</a:t>
            </a:r>
            <a:endParaRPr lang="en-US" altLang="zh-TW" dirty="0"/>
          </a:p>
          <a:p>
            <a:pPr lvl="2"/>
            <a:r>
              <a:rPr lang="en-US" altLang="zh-TW" dirty="0"/>
              <a:t>Gmail, Google </a:t>
            </a:r>
            <a:r>
              <a:rPr lang="zh-TW" altLang="en-US" dirty="0"/>
              <a:t>試算表</a:t>
            </a:r>
            <a:r>
              <a:rPr lang="en-US" altLang="zh-TW" dirty="0"/>
              <a:t>, Discord</a:t>
            </a:r>
          </a:p>
          <a:p>
            <a:pPr lvl="1"/>
            <a:r>
              <a:rPr lang="zh-TW" altLang="en-US" dirty="0">
                <a:solidFill>
                  <a:schemeClr val="accent2">
                    <a:lumMod val="75000"/>
                  </a:schemeClr>
                </a:solidFill>
              </a:rPr>
              <a:t>帳密</a:t>
            </a:r>
            <a:r>
              <a:rPr lang="zh-TW" altLang="en-US" dirty="0"/>
              <a:t>：直接使用帳密資訊登入授權</a:t>
            </a:r>
            <a:endParaRPr lang="en-US" altLang="zh-TW" dirty="0"/>
          </a:p>
          <a:p>
            <a:pPr lvl="2"/>
            <a:r>
              <a:rPr lang="en-US" altLang="zh-TW" dirty="0"/>
              <a:t>PostgreSQL</a:t>
            </a:r>
            <a:r>
              <a:rPr lang="zh-TW" altLang="en-US" dirty="0"/>
              <a:t> 資料庫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3461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058150-1D0E-7B79-CCD4-3E345963B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的憑證取得 </a:t>
            </a:r>
            <a:r>
              <a:rPr lang="en-US" altLang="zh-TW" dirty="0"/>
              <a:t>– PostgreSQL</a:t>
            </a:r>
            <a:r>
              <a:rPr lang="zh-TW" altLang="en-US" dirty="0"/>
              <a:t> 資料庫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417B7E-7885-9E7B-800E-377485133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 </a:t>
            </a:r>
            <a:r>
              <a:rPr lang="en-US" altLang="zh-TW" dirty="0"/>
              <a:t>Add new credential </a:t>
            </a:r>
            <a:r>
              <a:rPr lang="zh-TW" altLang="en-US" dirty="0"/>
              <a:t>中查詢 </a:t>
            </a:r>
            <a:r>
              <a:rPr lang="en-US" altLang="zh-TW" dirty="0"/>
              <a:t>Postgres</a:t>
            </a:r>
          </a:p>
          <a:p>
            <a:r>
              <a:rPr lang="zh-TW" altLang="en-US" dirty="0"/>
              <a:t>依序填入 </a:t>
            </a:r>
            <a:r>
              <a:rPr lang="en-US" altLang="zh-TW" dirty="0"/>
              <a:t>Host, Database, User, Password </a:t>
            </a:r>
            <a:r>
              <a:rPr lang="zh-TW" altLang="en-US" dirty="0"/>
              <a:t>欄位</a:t>
            </a:r>
            <a:endParaRPr lang="en-US" altLang="zh-TW" dirty="0"/>
          </a:p>
          <a:p>
            <a:r>
              <a:rPr lang="zh-TW" altLang="en-US" dirty="0"/>
              <a:t>看到 </a:t>
            </a:r>
            <a:r>
              <a:rPr lang="en-US" altLang="zh-TW" dirty="0"/>
              <a:t>Connection tested successfully </a:t>
            </a:r>
            <a:r>
              <a:rPr lang="zh-TW" altLang="en-US" dirty="0"/>
              <a:t>即代表成功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286A8A7-220C-681E-7E0A-0B9C44BA8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037" y="3429000"/>
            <a:ext cx="4024745" cy="21633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BC56C6B-B3C8-FCA7-01FC-64F4AE736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397" y="2555996"/>
            <a:ext cx="6390024" cy="390930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C8ABA7E-4A37-A0CF-1230-0EC1B51F8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627" y="3539085"/>
            <a:ext cx="7915564" cy="194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608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BE72B-D0D2-265D-EE2B-4D35E1419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148426-34EF-FD83-DBAF-7337940ED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憑證取得 </a:t>
            </a:r>
            <a:r>
              <a:rPr lang="en-US" altLang="zh-TW" dirty="0"/>
              <a:t>- Google Gemini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CCCFAD-4E4B-E227-CF50-872D944E4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前往 </a:t>
            </a:r>
            <a:r>
              <a:rPr lang="en-US" altLang="zh-TW" dirty="0"/>
              <a:t>Google AI Studio</a:t>
            </a:r>
          </a:p>
          <a:p>
            <a:r>
              <a:rPr lang="zh-TW" altLang="en-US" dirty="0"/>
              <a:t>選擇 </a:t>
            </a:r>
            <a:r>
              <a:rPr lang="en-US" altLang="zh-TW" dirty="0"/>
              <a:t>Get started </a:t>
            </a:r>
            <a:r>
              <a:rPr lang="zh-TW" altLang="en-US" dirty="0"/>
              <a:t>並登入</a:t>
            </a:r>
            <a:endParaRPr lang="en-US" altLang="zh-TW" dirty="0"/>
          </a:p>
          <a:p>
            <a:r>
              <a:rPr lang="zh-TW" altLang="en-US" dirty="0"/>
              <a:t>點擊左下角 </a:t>
            </a:r>
            <a:r>
              <a:rPr lang="en-US" altLang="zh-TW" dirty="0"/>
              <a:t>Get API key -&gt; </a:t>
            </a:r>
            <a:r>
              <a:rPr lang="zh-TW" altLang="en-US" dirty="0"/>
              <a:t>右上角 </a:t>
            </a:r>
            <a:r>
              <a:rPr lang="en-US" altLang="zh-TW" dirty="0"/>
              <a:t>Create API key</a:t>
            </a:r>
          </a:p>
          <a:p>
            <a:r>
              <a:rPr lang="en-US" altLang="zh-TW" dirty="0"/>
              <a:t>Create project </a:t>
            </a:r>
            <a:r>
              <a:rPr lang="zh-TW" altLang="en-US" dirty="0"/>
              <a:t>並命名為 </a:t>
            </a:r>
            <a:r>
              <a:rPr lang="en-US" altLang="zh-TW" dirty="0"/>
              <a:t>n8n-tutorial</a:t>
            </a:r>
          </a:p>
          <a:p>
            <a:r>
              <a:rPr lang="zh-TW" altLang="en-US" dirty="0"/>
              <a:t>命名 </a:t>
            </a:r>
            <a:r>
              <a:rPr lang="en-US" altLang="zh-TW" dirty="0"/>
              <a:t>API</a:t>
            </a:r>
            <a:r>
              <a:rPr lang="zh-TW" altLang="en-US" dirty="0"/>
              <a:t> </a:t>
            </a:r>
            <a:r>
              <a:rPr lang="en-US" altLang="zh-TW" dirty="0"/>
              <a:t>Key -&gt; Create key</a:t>
            </a:r>
          </a:p>
          <a:p>
            <a:r>
              <a:rPr lang="zh-TW" altLang="en-US" dirty="0"/>
              <a:t>點選剛剛創建的 </a:t>
            </a:r>
            <a:r>
              <a:rPr lang="en-US" altLang="zh-TW" dirty="0"/>
              <a:t>API Key </a:t>
            </a:r>
            <a:r>
              <a:rPr lang="zh-TW" altLang="en-US" dirty="0"/>
              <a:t>並複製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0095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3C3F5E-324B-1B7C-0ACE-916E0EF6C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憑證取得 </a:t>
            </a:r>
            <a:r>
              <a:rPr lang="en-US" altLang="zh-TW" dirty="0"/>
              <a:t>- Google Gemini</a:t>
            </a:r>
            <a:r>
              <a:rPr lang="zh-TW" altLang="en-US" dirty="0"/>
              <a:t> </a:t>
            </a:r>
            <a:r>
              <a:rPr lang="en-US" altLang="zh-TW" dirty="0"/>
              <a:t>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328720-B65B-8C8C-897F-FCD213D7C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搜尋 </a:t>
            </a:r>
            <a:r>
              <a:rPr lang="en-US" altLang="zh-TW" dirty="0"/>
              <a:t>Gemini</a:t>
            </a:r>
          </a:p>
          <a:p>
            <a:r>
              <a:rPr lang="zh-TW" altLang="en-US" dirty="0"/>
              <a:t>貼上 </a:t>
            </a:r>
            <a:r>
              <a:rPr lang="en-US" altLang="zh-TW" dirty="0"/>
              <a:t>API Key </a:t>
            </a:r>
            <a:r>
              <a:rPr lang="zh-TW" altLang="en-US" dirty="0"/>
              <a:t>並按下 </a:t>
            </a:r>
            <a:r>
              <a:rPr lang="en-US" altLang="zh-TW" dirty="0"/>
              <a:t>Save</a:t>
            </a:r>
          </a:p>
          <a:p>
            <a:r>
              <a:rPr lang="zh-TW" altLang="en-US" dirty="0"/>
              <a:t>看到 </a:t>
            </a:r>
            <a:r>
              <a:rPr lang="en-US" altLang="zh-TW" dirty="0"/>
              <a:t>Connection tested successfully </a:t>
            </a:r>
            <a:r>
              <a:rPr lang="zh-TW" altLang="en-US" dirty="0"/>
              <a:t>即代表成功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5D04B53-EC4B-80F2-CAF8-5A0B42097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840" y="3401215"/>
            <a:ext cx="4501139" cy="238998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914D881-A2A0-F868-1D01-B747307CE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904" y="2993579"/>
            <a:ext cx="7004191" cy="355468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D08D6BF-512D-0B67-AA73-7058F34C4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3354" y="3730542"/>
            <a:ext cx="8562109" cy="208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220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A99E5B-1AF0-7670-16DE-CDF1F6A4F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憑證取得 </a:t>
            </a:r>
            <a:r>
              <a:rPr lang="en-US" altLang="zh-TW" dirty="0"/>
              <a:t>– Gmail, </a:t>
            </a:r>
            <a:r>
              <a:rPr lang="zh-TW" altLang="en-US" dirty="0"/>
              <a:t>試算表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A6E3E5-6792-1B3C-B481-95FBB63DF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前往 </a:t>
            </a:r>
            <a:r>
              <a:rPr lang="en-US" altLang="zh-TW" dirty="0"/>
              <a:t>Google Cloud </a:t>
            </a:r>
            <a:r>
              <a:rPr lang="zh-TW" altLang="en-US" dirty="0"/>
              <a:t>並前往控制台</a:t>
            </a:r>
            <a:endParaRPr lang="en-US" altLang="zh-TW" dirty="0"/>
          </a:p>
          <a:p>
            <a:r>
              <a:rPr lang="zh-TW" altLang="en-US" dirty="0"/>
              <a:t>選取專案 </a:t>
            </a:r>
            <a:r>
              <a:rPr lang="en-US" altLang="zh-TW" dirty="0"/>
              <a:t>-&gt; </a:t>
            </a:r>
            <a:r>
              <a:rPr lang="zh-TW" altLang="en-US" dirty="0"/>
              <a:t>剛剛 </a:t>
            </a:r>
            <a:r>
              <a:rPr lang="en-US" altLang="zh-TW" dirty="0"/>
              <a:t>Google AI Studio </a:t>
            </a:r>
            <a:r>
              <a:rPr lang="zh-TW" altLang="en-US" dirty="0"/>
              <a:t>新增的專案</a:t>
            </a:r>
            <a:endParaRPr lang="en-US" altLang="zh-TW" dirty="0"/>
          </a:p>
          <a:p>
            <a:r>
              <a:rPr lang="zh-TW" altLang="en-US" dirty="0"/>
              <a:t>搜尋中分別輸入 </a:t>
            </a:r>
            <a:r>
              <a:rPr lang="en-US" altLang="zh-TW" dirty="0"/>
              <a:t>Gmail, Google Sheets</a:t>
            </a:r>
          </a:p>
          <a:p>
            <a:r>
              <a:rPr lang="zh-TW" altLang="en-US" dirty="0"/>
              <a:t>將 </a:t>
            </a:r>
            <a:r>
              <a:rPr lang="en-US" altLang="zh-TW" dirty="0"/>
              <a:t>2</a:t>
            </a:r>
            <a:r>
              <a:rPr lang="zh-TW" altLang="en-US" dirty="0"/>
              <a:t> 個 </a:t>
            </a:r>
            <a:r>
              <a:rPr lang="en-US" altLang="zh-TW" dirty="0"/>
              <a:t>API</a:t>
            </a:r>
            <a:r>
              <a:rPr lang="zh-TW" altLang="en-US" dirty="0"/>
              <a:t> 都啟用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35633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E0F41-9A81-3303-3646-5F90B5CAE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5DE5A9-E4DC-6307-B151-6D478850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憑證取得 </a:t>
            </a:r>
            <a:r>
              <a:rPr lang="en-US" altLang="zh-TW" dirty="0"/>
              <a:t>– Gmail, </a:t>
            </a:r>
            <a:r>
              <a:rPr lang="zh-TW" altLang="en-US" dirty="0"/>
              <a:t>試算表</a:t>
            </a:r>
            <a:r>
              <a:rPr lang="en-US" altLang="zh-TW" dirty="0"/>
              <a:t>, </a:t>
            </a:r>
            <a:r>
              <a:rPr lang="zh-TW" altLang="en-US" dirty="0"/>
              <a:t>雲端硬碟 </a:t>
            </a:r>
            <a:r>
              <a:rPr lang="en-US" altLang="zh-TW" dirty="0"/>
              <a:t>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01EFBB-9D33-D727-36A2-E9F892439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搜尋中輸入 </a:t>
            </a:r>
            <a:r>
              <a:rPr lang="en-US" altLang="zh-TW" dirty="0"/>
              <a:t>OAuth</a:t>
            </a:r>
          </a:p>
          <a:p>
            <a:r>
              <a:rPr lang="zh-TW" altLang="en-US" dirty="0"/>
              <a:t>尚未設定 </a:t>
            </a:r>
            <a:r>
              <a:rPr lang="en-US" altLang="zh-TW" dirty="0"/>
              <a:t>Google </a:t>
            </a:r>
            <a:r>
              <a:rPr lang="zh-TW" altLang="en-US" dirty="0"/>
              <a:t>驗證平台 </a:t>
            </a:r>
            <a:r>
              <a:rPr lang="en-US" altLang="zh-TW" dirty="0"/>
              <a:t>-&gt; </a:t>
            </a:r>
            <a:r>
              <a:rPr lang="zh-TW" altLang="en-US" dirty="0"/>
              <a:t>點選「開始」並逐步填入資訊</a:t>
            </a:r>
            <a:endParaRPr lang="en-US" altLang="zh-TW" dirty="0"/>
          </a:p>
          <a:p>
            <a:r>
              <a:rPr lang="zh-TW" altLang="en-US" dirty="0"/>
              <a:t>目標對象 </a:t>
            </a:r>
            <a:r>
              <a:rPr lang="en-US" altLang="zh-TW" dirty="0"/>
              <a:t>-&gt; </a:t>
            </a:r>
            <a:r>
              <a:rPr lang="zh-TW" altLang="en-US" dirty="0"/>
              <a:t>測試使用者 </a:t>
            </a:r>
            <a:r>
              <a:rPr lang="en-US" altLang="zh-TW" dirty="0"/>
              <a:t>-&gt; </a:t>
            </a:r>
            <a:r>
              <a:rPr lang="zh-TW" altLang="en-US" dirty="0"/>
              <a:t>確認自己的 </a:t>
            </a:r>
            <a:r>
              <a:rPr lang="en-US" altLang="zh-TW" dirty="0"/>
              <a:t>email </a:t>
            </a:r>
            <a:r>
              <a:rPr lang="zh-TW" altLang="en-US" dirty="0"/>
              <a:t>在其中</a:t>
            </a:r>
            <a:endParaRPr lang="en-US" altLang="zh-TW" dirty="0"/>
          </a:p>
          <a:p>
            <a:r>
              <a:rPr lang="zh-TW" altLang="en-US" dirty="0"/>
              <a:t>用戶端 </a:t>
            </a:r>
            <a:r>
              <a:rPr lang="en-US" altLang="zh-TW" dirty="0"/>
              <a:t>-&gt; </a:t>
            </a:r>
            <a:r>
              <a:rPr lang="zh-TW" altLang="en-US" dirty="0"/>
              <a:t>建立用戶端</a:t>
            </a:r>
            <a:endParaRPr lang="en-US" altLang="zh-TW" dirty="0"/>
          </a:p>
          <a:p>
            <a:pPr lvl="1"/>
            <a:r>
              <a:rPr lang="zh-TW" altLang="en-US" dirty="0"/>
              <a:t>應用程式類型：網頁應用程式</a:t>
            </a:r>
            <a:endParaRPr lang="en-US" altLang="zh-TW" dirty="0"/>
          </a:p>
          <a:p>
            <a:pPr lvl="1"/>
            <a:r>
              <a:rPr lang="zh-TW" altLang="en-US" dirty="0"/>
              <a:t>名稱：</a:t>
            </a:r>
            <a:r>
              <a:rPr lang="en-US" altLang="zh-TW" dirty="0"/>
              <a:t>n8n</a:t>
            </a:r>
          </a:p>
          <a:p>
            <a:pPr lvl="1"/>
            <a:r>
              <a:rPr lang="zh-TW" altLang="en-US" dirty="0"/>
              <a:t>已授權的重新導向 </a:t>
            </a:r>
            <a:r>
              <a:rPr lang="en-US" altLang="zh-TW" dirty="0"/>
              <a:t>URL</a:t>
            </a:r>
            <a:r>
              <a:rPr lang="zh-TW" altLang="en-US" dirty="0"/>
              <a:t>：</a:t>
            </a:r>
            <a:r>
              <a:rPr lang="en-US" altLang="zh-TW" dirty="0"/>
              <a:t>n8n</a:t>
            </a:r>
            <a:r>
              <a:rPr lang="zh-TW" altLang="en-US" dirty="0"/>
              <a:t> </a:t>
            </a:r>
            <a:r>
              <a:rPr lang="en-US" altLang="zh-TW" dirty="0"/>
              <a:t>Credential </a:t>
            </a:r>
            <a:r>
              <a:rPr lang="zh-TW" altLang="en-US" dirty="0"/>
              <a:t>中的 </a:t>
            </a:r>
            <a:r>
              <a:rPr lang="en-US" altLang="zh-TW" dirty="0"/>
              <a:t>OAuth Redirect URL</a:t>
            </a:r>
          </a:p>
          <a:p>
            <a:pPr lvl="1"/>
            <a:r>
              <a:rPr lang="zh-TW" altLang="en-US" dirty="0"/>
              <a:t>點擊「建立」並取得 </a:t>
            </a:r>
            <a:r>
              <a:rPr lang="zh-TW" altLang="en-US" dirty="0">
                <a:solidFill>
                  <a:schemeClr val="accent2">
                    <a:lumMod val="75000"/>
                  </a:schemeClr>
                </a:solidFill>
              </a:rPr>
              <a:t>用戶端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</a:rPr>
              <a:t>ID</a:t>
            </a:r>
            <a:r>
              <a:rPr lang="zh-TW" altLang="en-US" dirty="0"/>
              <a:t> 和 </a:t>
            </a:r>
            <a:r>
              <a:rPr lang="zh-TW" altLang="en-US" dirty="0">
                <a:solidFill>
                  <a:schemeClr val="accent2">
                    <a:lumMod val="75000"/>
                  </a:schemeClr>
                </a:solidFill>
              </a:rPr>
              <a:t>用戶端密碼</a:t>
            </a:r>
            <a:endParaRPr lang="en-US" altLang="zh-TW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8685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85188-2C0F-F5C8-AEA0-2B72A1343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DB841A-DB21-4EF5-4646-D25F59815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憑證取得 </a:t>
            </a:r>
            <a:r>
              <a:rPr lang="en-US" altLang="zh-TW" dirty="0"/>
              <a:t>– Gmail, </a:t>
            </a:r>
            <a:r>
              <a:rPr lang="zh-TW" altLang="en-US" dirty="0"/>
              <a:t>試算表</a:t>
            </a:r>
            <a:r>
              <a:rPr lang="en-US" altLang="zh-TW" dirty="0"/>
              <a:t>, </a:t>
            </a:r>
            <a:r>
              <a:rPr lang="zh-TW" altLang="en-US" dirty="0"/>
              <a:t>雲端硬碟 </a:t>
            </a:r>
            <a:r>
              <a:rPr lang="en-US" altLang="zh-TW" dirty="0"/>
              <a:t>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E2FB6E-3B26-6B8D-AE87-0860B4098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返回 </a:t>
            </a:r>
            <a:r>
              <a:rPr lang="en-US" altLang="zh-TW" dirty="0"/>
              <a:t>n8n Credential </a:t>
            </a:r>
            <a:r>
              <a:rPr lang="zh-TW" altLang="en-US" dirty="0"/>
              <a:t>介面</a:t>
            </a:r>
            <a:endParaRPr lang="en-US" altLang="zh-TW" dirty="0"/>
          </a:p>
          <a:p>
            <a:r>
              <a:rPr lang="en-US" altLang="zh-TW" dirty="0"/>
              <a:t>Gmail, </a:t>
            </a:r>
            <a:r>
              <a:rPr lang="zh-TW" altLang="en-US" dirty="0"/>
              <a:t>試算表 </a:t>
            </a:r>
            <a:r>
              <a:rPr lang="en-US" altLang="zh-TW" dirty="0"/>
              <a:t>Credential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en-US" altLang="zh-TW" dirty="0"/>
              <a:t>Client ID</a:t>
            </a:r>
            <a:r>
              <a:rPr lang="zh-TW" altLang="en-US" dirty="0"/>
              <a:t>：填入剛剛取得的</a:t>
            </a:r>
            <a:r>
              <a:rPr lang="zh-TW" altLang="en-US" dirty="0">
                <a:solidFill>
                  <a:schemeClr val="accent2">
                    <a:lumMod val="75000"/>
                  </a:schemeClr>
                </a:solidFill>
              </a:rPr>
              <a:t>用戶端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</a:rPr>
              <a:t>ID</a:t>
            </a:r>
            <a:endParaRPr lang="en-US" altLang="zh-TW" dirty="0"/>
          </a:p>
          <a:p>
            <a:pPr lvl="1"/>
            <a:r>
              <a:rPr lang="en-US" altLang="zh-TW" dirty="0"/>
              <a:t>Client Secret</a:t>
            </a:r>
            <a:r>
              <a:rPr lang="zh-TW" altLang="en-US" dirty="0"/>
              <a:t>：填入</a:t>
            </a:r>
            <a:r>
              <a:rPr lang="zh-TW" altLang="en-US" dirty="0">
                <a:solidFill>
                  <a:schemeClr val="accent2">
                    <a:lumMod val="75000"/>
                  </a:schemeClr>
                </a:solidFill>
              </a:rPr>
              <a:t>用戶端密碼</a:t>
            </a:r>
            <a:endParaRPr lang="en-US" altLang="zh-TW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zh-TW" altLang="en-US" dirty="0"/>
              <a:t>下滑並點選 </a:t>
            </a:r>
            <a:r>
              <a:rPr lang="en-US" altLang="zh-TW" dirty="0"/>
              <a:t>“Sign in with Google”</a:t>
            </a:r>
          </a:p>
          <a:p>
            <a:pPr lvl="1"/>
            <a:r>
              <a:rPr lang="zh-TW" altLang="en-US" dirty="0"/>
              <a:t>登入自己的 </a:t>
            </a:r>
            <a:r>
              <a:rPr lang="en-US" altLang="zh-TW" dirty="0"/>
              <a:t>Gmail -&gt; </a:t>
            </a:r>
            <a:r>
              <a:rPr lang="zh-TW" altLang="en-US" dirty="0"/>
              <a:t>繼續 </a:t>
            </a:r>
            <a:r>
              <a:rPr lang="en-US" altLang="zh-TW" dirty="0"/>
              <a:t>-&gt; </a:t>
            </a:r>
            <a:r>
              <a:rPr lang="zh-TW" altLang="en-US" dirty="0"/>
              <a:t>全選 </a:t>
            </a:r>
            <a:r>
              <a:rPr lang="en-US" altLang="zh-TW" dirty="0"/>
              <a:t>-&gt; </a:t>
            </a:r>
            <a:r>
              <a:rPr lang="zh-TW" altLang="en-US" dirty="0"/>
              <a:t>下滑繼續</a:t>
            </a:r>
            <a:endParaRPr lang="en-US" altLang="zh-TW" dirty="0"/>
          </a:p>
          <a:p>
            <a:pPr lvl="1"/>
            <a:r>
              <a:rPr lang="zh-TW" altLang="en-US" dirty="0"/>
              <a:t>看到 </a:t>
            </a:r>
            <a:r>
              <a:rPr lang="en-US" altLang="zh-TW" dirty="0"/>
              <a:t>Connection successful </a:t>
            </a:r>
            <a:r>
              <a:rPr lang="zh-TW" altLang="en-US" dirty="0"/>
              <a:t>即代表成功</a:t>
            </a:r>
            <a:endParaRPr lang="en-US" altLang="zh-TW" dirty="0"/>
          </a:p>
          <a:p>
            <a:pPr lvl="1"/>
            <a:r>
              <a:rPr lang="en-US" altLang="zh-TW" dirty="0"/>
              <a:t>Gmail, </a:t>
            </a:r>
            <a:r>
              <a:rPr lang="zh-TW" altLang="en-US" dirty="0"/>
              <a:t>試算表的 </a:t>
            </a:r>
            <a:r>
              <a:rPr lang="en-US" altLang="zh-TW" dirty="0"/>
              <a:t>Credential </a:t>
            </a:r>
            <a:r>
              <a:rPr lang="zh-TW" altLang="en-US" dirty="0"/>
              <a:t>皆</a:t>
            </a:r>
            <a:r>
              <a:rPr lang="zh-TW" altLang="en-US" dirty="0">
                <a:solidFill>
                  <a:schemeClr val="accent2">
                    <a:lumMod val="75000"/>
                  </a:schemeClr>
                </a:solidFill>
              </a:rPr>
              <a:t>可使用同一組用戶端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</a:rPr>
              <a:t>ID</a:t>
            </a:r>
            <a:r>
              <a:rPr lang="zh-TW" altLang="en-US" dirty="0">
                <a:solidFill>
                  <a:schemeClr val="accent2">
                    <a:lumMod val="75000"/>
                  </a:schemeClr>
                </a:solidFill>
              </a:rPr>
              <a:t>和密碼</a:t>
            </a:r>
            <a:endParaRPr lang="en-US" altLang="zh-TW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86539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DDB36-6140-613B-16C8-4CC7852E1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F047924-474B-23B3-0973-0001BD9FA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目錄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D1DCB6D-5706-C417-8984-D3D062D0E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/>
              <a:t>n8n</a:t>
            </a:r>
            <a:r>
              <a:rPr lang="zh-TW" altLang="en-US" sz="2800" dirty="0"/>
              <a:t> 的特色與優勢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與資料庫的安裝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的介面與基本功能介紹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的 </a:t>
            </a:r>
            <a:r>
              <a:rPr lang="en-US" altLang="zh-TW" sz="2800" dirty="0"/>
              <a:t>API</a:t>
            </a:r>
            <a:r>
              <a:rPr lang="zh-TW" altLang="en-US" sz="2800" dirty="0"/>
              <a:t> 憑證取得</a:t>
            </a:r>
            <a:endParaRPr lang="en-US" altLang="zh-TW" sz="2800" dirty="0"/>
          </a:p>
          <a:p>
            <a:r>
              <a:rPr lang="en-US" altLang="zh-TW" sz="2800" dirty="0">
                <a:solidFill>
                  <a:schemeClr val="accent2">
                    <a:lumMod val="75000"/>
                  </a:schemeClr>
                </a:solidFill>
              </a:rPr>
              <a:t>n8n </a:t>
            </a:r>
            <a:r>
              <a:rPr lang="zh-TW" altLang="en-US" sz="2800" dirty="0">
                <a:solidFill>
                  <a:schemeClr val="accent2">
                    <a:lumMod val="75000"/>
                  </a:schemeClr>
                </a:solidFill>
              </a:rPr>
              <a:t>的情境實作：每月郵件寄送系統</a:t>
            </a:r>
            <a:endParaRPr lang="en-US" altLang="zh-TW" sz="28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TW" altLang="en-US" sz="2800" dirty="0"/>
              <a:t>額外補充</a:t>
            </a:r>
            <a:endParaRPr lang="en-US" altLang="zh-TW" sz="28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707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3AD0E4-F1F7-1062-05BF-C7DE9687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每月寄送郵件系統 </a:t>
            </a:r>
            <a:r>
              <a:rPr lang="en-US" altLang="zh-TW" dirty="0"/>
              <a:t>– </a:t>
            </a:r>
            <a:r>
              <a:rPr lang="zh-TW" altLang="en-US" dirty="0"/>
              <a:t>情境說明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18A014-33B0-9827-C584-F7950808C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學校行政部門每個月需要寄信給學生</a:t>
            </a:r>
            <a:r>
              <a:rPr lang="en-US" altLang="zh-TW" dirty="0"/>
              <a:t>(</a:t>
            </a:r>
            <a:r>
              <a:rPr lang="zh-TW" altLang="en-US" dirty="0"/>
              <a:t>助理</a:t>
            </a:r>
            <a:r>
              <a:rPr lang="en-US" altLang="zh-TW" dirty="0"/>
              <a:t>)</a:t>
            </a:r>
            <a:r>
              <a:rPr lang="zh-TW" altLang="en-US" dirty="0"/>
              <a:t>和教授</a:t>
            </a:r>
            <a:r>
              <a:rPr lang="en-US" altLang="zh-TW" dirty="0"/>
              <a:t>(</a:t>
            </a:r>
            <a:r>
              <a:rPr lang="zh-TW" altLang="en-US" dirty="0"/>
              <a:t>計畫主持人</a:t>
            </a:r>
            <a:r>
              <a:rPr lang="en-US" altLang="zh-TW" dirty="0"/>
              <a:t>)</a:t>
            </a:r>
            <a:r>
              <a:rPr lang="zh-TW" altLang="en-US" dirty="0"/>
              <a:t>，提醒他們完成該月份的薪資造冊作業。</a:t>
            </a:r>
            <a:endParaRPr lang="en-US" altLang="zh-TW" dirty="0"/>
          </a:p>
          <a:p>
            <a:r>
              <a:rPr lang="zh-TW" altLang="en-US" dirty="0"/>
              <a:t>寄信的對象取決於該月份的聘案表和對應篩選條件。</a:t>
            </a:r>
            <a:endParaRPr lang="en-US" altLang="zh-TW" dirty="0"/>
          </a:p>
          <a:p>
            <a:r>
              <a:rPr lang="zh-TW" altLang="en-US" dirty="0"/>
              <a:t>每封郵件的內容大致相同，但會根據些許情境產生變化 </a:t>
            </a:r>
            <a:r>
              <a:rPr lang="en-US" altLang="zh-TW" dirty="0"/>
              <a:t>(</a:t>
            </a:r>
            <a:r>
              <a:rPr lang="zh-TW" altLang="en-US" dirty="0"/>
              <a:t>個人化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31825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88289B-F1C7-16F3-169C-E621E2E4C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每月寄送郵件系統 </a:t>
            </a:r>
            <a:r>
              <a:rPr lang="en-US" altLang="zh-TW" dirty="0"/>
              <a:t>– </a:t>
            </a:r>
            <a:r>
              <a:rPr lang="zh-TW" altLang="en-US" dirty="0"/>
              <a:t>情境說明 </a:t>
            </a:r>
            <a:r>
              <a:rPr lang="en-US" altLang="zh-TW" dirty="0"/>
              <a:t>– </a:t>
            </a:r>
            <a:r>
              <a:rPr lang="zh-TW" altLang="en-US" dirty="0"/>
              <a:t>聘案表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A82C8B-8010-F09E-6CB4-5A8926BD3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聘案表的屬性 </a:t>
            </a:r>
            <a:r>
              <a:rPr lang="en-US" altLang="zh-TW" dirty="0"/>
              <a:t>(Attribute) </a:t>
            </a:r>
            <a:r>
              <a:rPr lang="zh-TW" altLang="en-US" dirty="0"/>
              <a:t>包含：</a:t>
            </a:r>
            <a:endParaRPr lang="en-US" altLang="zh-TW" dirty="0"/>
          </a:p>
          <a:p>
            <a:pPr lvl="1"/>
            <a:r>
              <a:rPr lang="zh-TW" altLang="en-US" dirty="0"/>
              <a:t>助理</a:t>
            </a:r>
            <a:r>
              <a:rPr lang="en-US" altLang="zh-TW" dirty="0"/>
              <a:t>(</a:t>
            </a:r>
            <a:r>
              <a:rPr lang="zh-TW" altLang="en-US" dirty="0"/>
              <a:t>學生</a:t>
            </a:r>
            <a:r>
              <a:rPr lang="en-US" altLang="zh-TW" dirty="0"/>
              <a:t>)</a:t>
            </a:r>
            <a:r>
              <a:rPr lang="zh-TW" altLang="en-US" dirty="0"/>
              <a:t>姓名、</a:t>
            </a:r>
            <a:r>
              <a:rPr lang="en-US" altLang="zh-TW" dirty="0"/>
              <a:t>email</a:t>
            </a:r>
            <a:r>
              <a:rPr lang="zh-TW" altLang="en-US" dirty="0"/>
              <a:t>、系級、學號</a:t>
            </a:r>
            <a:endParaRPr lang="en-US" altLang="zh-TW" dirty="0"/>
          </a:p>
          <a:p>
            <a:pPr lvl="1"/>
            <a:r>
              <a:rPr lang="zh-TW" altLang="en-US" dirty="0"/>
              <a:t>聘期起始日、結束日</a:t>
            </a:r>
            <a:endParaRPr lang="en-US" altLang="zh-TW" dirty="0"/>
          </a:p>
          <a:p>
            <a:pPr lvl="1"/>
            <a:r>
              <a:rPr lang="zh-TW" altLang="en-US" dirty="0"/>
              <a:t>本校計畫代碼 </a:t>
            </a:r>
            <a:r>
              <a:rPr lang="en-US" altLang="zh-TW" dirty="0"/>
              <a:t>(</a:t>
            </a:r>
            <a:r>
              <a:rPr lang="zh-TW" altLang="en-US" dirty="0"/>
              <a:t>聘案對應的計畫代碼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計畫名稱</a:t>
            </a:r>
            <a:endParaRPr lang="en-US" altLang="zh-TW" dirty="0"/>
          </a:p>
          <a:p>
            <a:pPr lvl="1"/>
            <a:r>
              <a:rPr lang="zh-TW" altLang="en-US" dirty="0"/>
              <a:t>計畫主持人 </a:t>
            </a:r>
            <a:r>
              <a:rPr lang="en-US" altLang="zh-TW" dirty="0"/>
              <a:t>(</a:t>
            </a:r>
            <a:r>
              <a:rPr lang="zh-TW" altLang="en-US" dirty="0"/>
              <a:t>教授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計畫主持人的 </a:t>
            </a:r>
            <a:r>
              <a:rPr lang="en-US" altLang="zh-TW" dirty="0"/>
              <a:t>email </a:t>
            </a:r>
            <a:r>
              <a:rPr lang="zh-TW" altLang="en-US" dirty="0"/>
              <a:t>並不在此表中，會提供一份有全校教授的姓名 </a:t>
            </a:r>
            <a:r>
              <a:rPr lang="en-US" altLang="zh-TW" dirty="0"/>
              <a:t>+ email </a:t>
            </a:r>
            <a:r>
              <a:rPr lang="zh-TW" altLang="en-US" dirty="0"/>
              <a:t>的表格。</a:t>
            </a:r>
            <a:endParaRPr lang="en-US" altLang="zh-TW" dirty="0"/>
          </a:p>
          <a:p>
            <a:r>
              <a:rPr lang="zh-TW" altLang="en-US" dirty="0"/>
              <a:t>聘案表 </a:t>
            </a:r>
            <a:r>
              <a:rPr lang="en-US" altLang="zh-TW" dirty="0"/>
              <a:t>&amp;</a:t>
            </a:r>
            <a:r>
              <a:rPr lang="zh-TW" altLang="en-US" dirty="0"/>
              <a:t> 教授 </a:t>
            </a:r>
            <a:r>
              <a:rPr lang="en-US" altLang="zh-TW" dirty="0"/>
              <a:t>email </a:t>
            </a:r>
            <a:r>
              <a:rPr lang="zh-TW" altLang="en-US" dirty="0"/>
              <a:t>表格範例可參考附件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59636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AC705-CBFF-7D44-21EF-9DE04E611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每月寄送郵件系統 </a:t>
            </a:r>
            <a:r>
              <a:rPr lang="en-US" altLang="zh-TW" dirty="0"/>
              <a:t>– </a:t>
            </a:r>
            <a:r>
              <a:rPr lang="zh-TW" altLang="en-US" dirty="0"/>
              <a:t>情境說明 </a:t>
            </a:r>
            <a:r>
              <a:rPr lang="en-US" altLang="zh-TW" dirty="0"/>
              <a:t>– </a:t>
            </a:r>
            <a:r>
              <a:rPr lang="zh-TW" altLang="en-US" dirty="0"/>
              <a:t>篩選條件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AD1CEC-4E60-D355-DBA2-6AEFDEE86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針對寄送對象的篩選條件如下：</a:t>
            </a:r>
            <a:endParaRPr lang="en-US" altLang="zh-TW" dirty="0"/>
          </a:p>
          <a:p>
            <a:pPr lvl="1"/>
            <a:r>
              <a:rPr lang="zh-TW" altLang="en-US" dirty="0"/>
              <a:t>聘期必須落在該月區間</a:t>
            </a:r>
            <a:endParaRPr lang="en-US" altLang="zh-TW" dirty="0"/>
          </a:p>
          <a:p>
            <a:pPr lvl="1"/>
            <a:r>
              <a:rPr lang="zh-TW" altLang="en-US" dirty="0"/>
              <a:t>有指定的計畫代碼</a:t>
            </a:r>
            <a:endParaRPr lang="en-US" altLang="zh-TW" dirty="0"/>
          </a:p>
          <a:p>
            <a:r>
              <a:rPr lang="zh-TW" altLang="en-US" dirty="0"/>
              <a:t>每位助理能參與的計畫不限數量。</a:t>
            </a:r>
            <a:endParaRPr lang="en-US" altLang="zh-TW" dirty="0"/>
          </a:p>
          <a:p>
            <a:r>
              <a:rPr lang="zh-TW" altLang="en-US" dirty="0"/>
              <a:t>若寄送的郵件包含同個對象但多個計畫，則每個計畫都各對其寄出一封信。</a:t>
            </a:r>
            <a:endParaRPr lang="en-US" altLang="zh-TW" dirty="0"/>
          </a:p>
          <a:p>
            <a:r>
              <a:rPr lang="zh-TW" altLang="en-US" dirty="0"/>
              <a:t>篩選條件範例可參考附件。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51307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A97B30-1958-987A-E5DF-2C4586284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每月寄送郵件系統 </a:t>
            </a:r>
            <a:r>
              <a:rPr lang="en-US" altLang="zh-TW" dirty="0"/>
              <a:t>– </a:t>
            </a:r>
            <a:r>
              <a:rPr lang="zh-TW" altLang="en-US" dirty="0"/>
              <a:t>情境說明 </a:t>
            </a:r>
            <a:r>
              <a:rPr lang="en-US" altLang="zh-TW" dirty="0"/>
              <a:t>–</a:t>
            </a:r>
            <a:r>
              <a:rPr lang="zh-TW" altLang="en-US" dirty="0"/>
              <a:t> 郵件內容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E21D91-754F-6462-25CF-D88266ABC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郵件內須包含薪資造冊的作業流程。</a:t>
            </a:r>
            <a:endParaRPr lang="en-US" altLang="zh-TW" dirty="0"/>
          </a:p>
          <a:p>
            <a:r>
              <a:rPr lang="zh-TW" altLang="en-US" dirty="0"/>
              <a:t>郵件內有部分內容須根據以下因素進行調整：</a:t>
            </a:r>
            <a:endParaRPr lang="en-US" altLang="zh-TW" dirty="0"/>
          </a:p>
          <a:p>
            <a:pPr lvl="1"/>
            <a:r>
              <a:rPr lang="zh-TW" altLang="en-US" dirty="0"/>
              <a:t>寄送對象姓名</a:t>
            </a:r>
            <a:endParaRPr lang="en-US" altLang="zh-TW" dirty="0"/>
          </a:p>
          <a:p>
            <a:pPr lvl="1"/>
            <a:r>
              <a:rPr lang="zh-TW" altLang="en-US" dirty="0"/>
              <a:t>寄送對象身分 </a:t>
            </a:r>
            <a:r>
              <a:rPr lang="en-US" altLang="zh-TW" dirty="0"/>
              <a:t>(</a:t>
            </a:r>
            <a:r>
              <a:rPr lang="zh-TW" altLang="en-US" dirty="0"/>
              <a:t>助理</a:t>
            </a:r>
            <a:r>
              <a:rPr lang="en-US" altLang="zh-TW" dirty="0"/>
              <a:t>/</a:t>
            </a:r>
            <a:r>
              <a:rPr lang="zh-TW" altLang="en-US" dirty="0"/>
              <a:t>教授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該月月份</a:t>
            </a:r>
            <a:endParaRPr lang="en-US" altLang="zh-TW" dirty="0"/>
          </a:p>
          <a:p>
            <a:r>
              <a:rPr lang="zh-TW" altLang="en-US" dirty="0"/>
              <a:t>郵件內容可參考附件。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1042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40A81A-25F3-E99D-75D0-119743851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每月寄送郵件系統 </a:t>
            </a:r>
            <a:r>
              <a:rPr lang="en-US" altLang="zh-TW" dirty="0"/>
              <a:t>– </a:t>
            </a:r>
            <a:r>
              <a:rPr lang="zh-TW" altLang="en-US" dirty="0"/>
              <a:t>實作分析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6B50C-A428-15D4-75B4-7963EBF40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在實作之前，我們會需要先分析具體的解決方案。</a:t>
            </a:r>
            <a:endParaRPr lang="en-US" altLang="zh-TW" dirty="0"/>
          </a:p>
          <a:p>
            <a:r>
              <a:rPr lang="zh-TW" altLang="en-US" dirty="0"/>
              <a:t>為了有效率的執行篩選條件</a:t>
            </a:r>
            <a:r>
              <a:rPr lang="en-US" altLang="zh-TW" dirty="0"/>
              <a:t>(</a:t>
            </a:r>
            <a:r>
              <a:rPr lang="zh-TW" altLang="en-US" dirty="0"/>
              <a:t>日期、計畫代碼</a:t>
            </a:r>
            <a:r>
              <a:rPr lang="en-US" altLang="zh-TW" dirty="0"/>
              <a:t>)</a:t>
            </a:r>
            <a:r>
              <a:rPr lang="zh-TW" altLang="en-US" dirty="0"/>
              <a:t>，我們將表格資料輸入進資料庫，讓資料庫來進行篩選。</a:t>
            </a:r>
            <a:endParaRPr lang="en-US" altLang="zh-TW" dirty="0"/>
          </a:p>
          <a:p>
            <a:r>
              <a:rPr lang="zh-TW" altLang="en-US" dirty="0"/>
              <a:t>為了能追蹤信件寄出的對象與狀況，我們將信件寄送狀況輸出為一個表格。</a:t>
            </a:r>
            <a:endParaRPr lang="en-US" altLang="zh-TW" dirty="0"/>
          </a:p>
          <a:p>
            <a:r>
              <a:rPr lang="zh-TW" altLang="en-US" dirty="0">
                <a:solidFill>
                  <a:schemeClr val="accent2">
                    <a:lumMod val="75000"/>
                  </a:schemeClr>
                </a:solidFill>
              </a:rPr>
              <a:t>資料怎麼輸入進資料庫 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</a:rPr>
              <a:t>?</a:t>
            </a:r>
          </a:p>
          <a:p>
            <a:r>
              <a:rPr lang="zh-TW" altLang="en-US" dirty="0">
                <a:solidFill>
                  <a:schemeClr val="accent2">
                    <a:lumMod val="75000"/>
                  </a:schemeClr>
                </a:solidFill>
              </a:rPr>
              <a:t>資料庫應該怎麼建立 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</a:rPr>
              <a:t>?</a:t>
            </a:r>
          </a:p>
          <a:p>
            <a:r>
              <a:rPr lang="zh-TW" altLang="en-US" dirty="0">
                <a:solidFill>
                  <a:schemeClr val="accent2">
                    <a:lumMod val="75000"/>
                  </a:schemeClr>
                </a:solidFill>
              </a:rPr>
              <a:t>怎麼輸出信件的寄送狀況 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</a:rPr>
              <a:t>?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1000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CD8115-BFFE-6DEE-65C1-50C2A791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每月寄送郵件系統 </a:t>
            </a:r>
            <a:r>
              <a:rPr lang="en-US" altLang="zh-TW" dirty="0"/>
              <a:t>– </a:t>
            </a:r>
            <a:r>
              <a:rPr lang="zh-TW" altLang="en-US" dirty="0"/>
              <a:t>實作分析 </a:t>
            </a:r>
            <a:r>
              <a:rPr lang="en-US" altLang="zh-TW" dirty="0"/>
              <a:t>– </a:t>
            </a:r>
            <a:r>
              <a:rPr lang="zh-TW" altLang="en-US" dirty="0"/>
              <a:t>試算表輸入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A862D5-F87F-4AEE-4B25-3A288037A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 </a:t>
            </a:r>
            <a:r>
              <a:rPr lang="en-US" altLang="zh-TW" dirty="0"/>
              <a:t>Google </a:t>
            </a:r>
            <a:r>
              <a:rPr lang="zh-TW" altLang="en-US" dirty="0"/>
              <a:t>試算表，將表格資料輸入進資料庫。</a:t>
            </a:r>
            <a:endParaRPr lang="en-US" altLang="zh-TW" dirty="0"/>
          </a:p>
          <a:p>
            <a:r>
              <a:rPr lang="zh-TW" altLang="en-US" dirty="0"/>
              <a:t>新建一個試算表，將試算表分為三個工作表，分別存入：</a:t>
            </a:r>
            <a:endParaRPr lang="en-US" altLang="zh-TW" dirty="0"/>
          </a:p>
          <a:p>
            <a:pPr lvl="1"/>
            <a:r>
              <a:rPr lang="zh-TW" altLang="en-US" dirty="0"/>
              <a:t>聘案表 </a:t>
            </a:r>
            <a:r>
              <a:rPr lang="en-US" altLang="zh-TW" dirty="0"/>
              <a:t>(</a:t>
            </a:r>
            <a:r>
              <a:rPr lang="en-US" altLang="zh-TW" dirty="0" err="1"/>
              <a:t>PartTimeMainInfo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計畫代碼篩選表 </a:t>
            </a:r>
            <a:r>
              <a:rPr lang="en-US" altLang="zh-TW" dirty="0"/>
              <a:t>(</a:t>
            </a:r>
            <a:r>
              <a:rPr lang="en-US" altLang="zh-TW" dirty="0" err="1"/>
              <a:t>ProjectCodeInfo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全校教授 </a:t>
            </a:r>
            <a:r>
              <a:rPr lang="en-US" altLang="zh-TW" dirty="0"/>
              <a:t>email </a:t>
            </a:r>
            <a:r>
              <a:rPr lang="zh-TW" altLang="en-US" dirty="0"/>
              <a:t>表 </a:t>
            </a:r>
            <a:r>
              <a:rPr lang="en-US" altLang="zh-TW" dirty="0"/>
              <a:t>(</a:t>
            </a:r>
            <a:r>
              <a:rPr lang="en-US" altLang="zh-TW" dirty="0" err="1"/>
              <a:t>ProjectHostInfo</a:t>
            </a:r>
            <a:r>
              <a:rPr lang="en-US" altLang="zh-TW" dirty="0"/>
              <a:t>)</a:t>
            </a:r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5582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49BF7F-A418-AB07-BB22-F8581E2F7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每月寄送郵件系統 </a:t>
            </a:r>
            <a:r>
              <a:rPr lang="en-US" altLang="zh-TW" dirty="0"/>
              <a:t>– </a:t>
            </a:r>
            <a:r>
              <a:rPr lang="zh-TW" altLang="en-US" dirty="0"/>
              <a:t>實作分析 </a:t>
            </a:r>
            <a:r>
              <a:rPr lang="en-US" altLang="zh-TW" dirty="0"/>
              <a:t>– </a:t>
            </a:r>
            <a:r>
              <a:rPr lang="zh-TW" altLang="en-US" dirty="0"/>
              <a:t>資料庫建立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794DBD-7ACE-BA80-2D92-279B90B6F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在資料庫中新建 </a:t>
            </a:r>
            <a:r>
              <a:rPr lang="en-US" altLang="zh-TW" dirty="0"/>
              <a:t>4</a:t>
            </a:r>
            <a:r>
              <a:rPr lang="zh-TW" altLang="en-US" dirty="0"/>
              <a:t> 個 </a:t>
            </a:r>
            <a:r>
              <a:rPr lang="en-US" altLang="zh-TW" dirty="0"/>
              <a:t>table</a:t>
            </a:r>
            <a:r>
              <a:rPr lang="zh-TW" altLang="en-US" dirty="0"/>
              <a:t>，分別存放：</a:t>
            </a:r>
            <a:endParaRPr lang="en-US" altLang="zh-TW" dirty="0"/>
          </a:p>
          <a:p>
            <a:pPr lvl="1"/>
            <a:r>
              <a:rPr lang="zh-TW" altLang="en-US" dirty="0"/>
              <a:t>聘案表必要內容 </a:t>
            </a:r>
            <a:r>
              <a:rPr lang="en-US" altLang="zh-TW" dirty="0"/>
              <a:t>(</a:t>
            </a:r>
            <a:r>
              <a:rPr lang="en-US" altLang="zh-TW" dirty="0" err="1"/>
              <a:t>part_time_main_info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計畫代碼篩選條件 </a:t>
            </a:r>
            <a:r>
              <a:rPr lang="en-US" altLang="zh-TW" dirty="0"/>
              <a:t>(</a:t>
            </a:r>
            <a:r>
              <a:rPr lang="en-US" altLang="zh-TW" dirty="0" err="1"/>
              <a:t>project_code_info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全校教授 </a:t>
            </a:r>
            <a:r>
              <a:rPr lang="en-US" altLang="zh-TW" dirty="0"/>
              <a:t>email (</a:t>
            </a:r>
            <a:r>
              <a:rPr lang="en-US" altLang="zh-TW" dirty="0" err="1"/>
              <a:t>project_host_info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郵件寄送狀況 </a:t>
            </a:r>
            <a:r>
              <a:rPr lang="en-US" altLang="zh-TW" dirty="0"/>
              <a:t>(</a:t>
            </a:r>
            <a:r>
              <a:rPr lang="en-US" altLang="zh-TW" dirty="0" err="1"/>
              <a:t>email_state_info</a:t>
            </a:r>
            <a:r>
              <a:rPr lang="en-US" altLang="zh-TW" dirty="0"/>
              <a:t>)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925E03F-E6A8-7615-CBA8-2E6CA2D6F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407004"/>
              </p:ext>
            </p:extLst>
          </p:nvPr>
        </p:nvGraphicFramePr>
        <p:xfrm>
          <a:off x="1378454" y="4401268"/>
          <a:ext cx="9431912" cy="16510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322391">
                  <a:extLst>
                    <a:ext uri="{9D8B030D-6E8A-4147-A177-3AD203B41FA5}">
                      <a16:colId xmlns:a16="http://schemas.microsoft.com/office/drawing/2014/main" val="802967767"/>
                    </a:ext>
                  </a:extLst>
                </a:gridCol>
                <a:gridCol w="1158503">
                  <a:extLst>
                    <a:ext uri="{9D8B030D-6E8A-4147-A177-3AD203B41FA5}">
                      <a16:colId xmlns:a16="http://schemas.microsoft.com/office/drawing/2014/main" val="3419438793"/>
                    </a:ext>
                  </a:extLst>
                </a:gridCol>
                <a:gridCol w="1158503">
                  <a:extLst>
                    <a:ext uri="{9D8B030D-6E8A-4147-A177-3AD203B41FA5}">
                      <a16:colId xmlns:a16="http://schemas.microsoft.com/office/drawing/2014/main" val="3423078955"/>
                    </a:ext>
                  </a:extLst>
                </a:gridCol>
                <a:gridCol w="1158503">
                  <a:extLst>
                    <a:ext uri="{9D8B030D-6E8A-4147-A177-3AD203B41FA5}">
                      <a16:colId xmlns:a16="http://schemas.microsoft.com/office/drawing/2014/main" val="1519525274"/>
                    </a:ext>
                  </a:extLst>
                </a:gridCol>
                <a:gridCol w="1158503">
                  <a:extLst>
                    <a:ext uri="{9D8B030D-6E8A-4147-A177-3AD203B41FA5}">
                      <a16:colId xmlns:a16="http://schemas.microsoft.com/office/drawing/2014/main" val="798320519"/>
                    </a:ext>
                  </a:extLst>
                </a:gridCol>
                <a:gridCol w="1158503">
                  <a:extLst>
                    <a:ext uri="{9D8B030D-6E8A-4147-A177-3AD203B41FA5}">
                      <a16:colId xmlns:a16="http://schemas.microsoft.com/office/drawing/2014/main" val="4167269854"/>
                    </a:ext>
                  </a:extLst>
                </a:gridCol>
                <a:gridCol w="1158503">
                  <a:extLst>
                    <a:ext uri="{9D8B030D-6E8A-4147-A177-3AD203B41FA5}">
                      <a16:colId xmlns:a16="http://schemas.microsoft.com/office/drawing/2014/main" val="3313100363"/>
                    </a:ext>
                  </a:extLst>
                </a:gridCol>
                <a:gridCol w="1158503">
                  <a:extLst>
                    <a:ext uri="{9D8B030D-6E8A-4147-A177-3AD203B41FA5}">
                      <a16:colId xmlns:a16="http://schemas.microsoft.com/office/drawing/2014/main" val="3082095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Table 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part_time_main_info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05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EMail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聘期起始日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聘期結束日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本校計畫代碼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計畫名稱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計畫主持人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697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對應屬性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name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email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start_date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end_date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project_code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project_name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project_host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005836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999ADE2-6B76-833D-FE28-89DCE56A9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820298"/>
              </p:ext>
            </p:extLst>
          </p:nvPr>
        </p:nvGraphicFramePr>
        <p:xfrm>
          <a:off x="3382346" y="4670508"/>
          <a:ext cx="5424127" cy="11125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304710">
                  <a:extLst>
                    <a:ext uri="{9D8B030D-6E8A-4147-A177-3AD203B41FA5}">
                      <a16:colId xmlns:a16="http://schemas.microsoft.com/office/drawing/2014/main" val="802967767"/>
                    </a:ext>
                  </a:extLst>
                </a:gridCol>
                <a:gridCol w="2392794">
                  <a:extLst>
                    <a:ext uri="{9D8B030D-6E8A-4147-A177-3AD203B41FA5}">
                      <a16:colId xmlns:a16="http://schemas.microsoft.com/office/drawing/2014/main" val="3423078955"/>
                    </a:ext>
                  </a:extLst>
                </a:gridCol>
                <a:gridCol w="1726623">
                  <a:extLst>
                    <a:ext uri="{9D8B030D-6E8A-4147-A177-3AD203B41FA5}">
                      <a16:colId xmlns:a16="http://schemas.microsoft.com/office/drawing/2014/main" val="1519525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Table 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project_code_info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05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計畫代碼篩選條件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對應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SQL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語句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697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對應屬性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raw_filter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sql_filter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00583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0B41F2A-18B4-1C84-60C3-7610BADE1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649480"/>
              </p:ext>
            </p:extLst>
          </p:nvPr>
        </p:nvGraphicFramePr>
        <p:xfrm>
          <a:off x="3461344" y="4670508"/>
          <a:ext cx="5266129" cy="11125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294492">
                  <a:extLst>
                    <a:ext uri="{9D8B030D-6E8A-4147-A177-3AD203B41FA5}">
                      <a16:colId xmlns:a16="http://schemas.microsoft.com/office/drawing/2014/main" val="802967767"/>
                    </a:ext>
                  </a:extLst>
                </a:gridCol>
                <a:gridCol w="1791855">
                  <a:extLst>
                    <a:ext uri="{9D8B030D-6E8A-4147-A177-3AD203B41FA5}">
                      <a16:colId xmlns:a16="http://schemas.microsoft.com/office/drawing/2014/main" val="3423078955"/>
                    </a:ext>
                  </a:extLst>
                </a:gridCol>
                <a:gridCol w="2179782">
                  <a:extLst>
                    <a:ext uri="{9D8B030D-6E8A-4147-A177-3AD203B41FA5}">
                      <a16:colId xmlns:a16="http://schemas.microsoft.com/office/drawing/2014/main" val="1519525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Table 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project_host_info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05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計畫主持人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計畫主持人</a:t>
                      </a:r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EMail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697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對應屬性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host_name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host_email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00583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3126333-6D89-823A-7708-695A14FDC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152977"/>
              </p:ext>
            </p:extLst>
          </p:nvPr>
        </p:nvGraphicFramePr>
        <p:xfrm>
          <a:off x="1852491" y="4401268"/>
          <a:ext cx="8483833" cy="16510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356025">
                  <a:extLst>
                    <a:ext uri="{9D8B030D-6E8A-4147-A177-3AD203B41FA5}">
                      <a16:colId xmlns:a16="http://schemas.microsoft.com/office/drawing/2014/main" val="802967767"/>
                    </a:ext>
                  </a:extLst>
                </a:gridCol>
                <a:gridCol w="1187968">
                  <a:extLst>
                    <a:ext uri="{9D8B030D-6E8A-4147-A177-3AD203B41FA5}">
                      <a16:colId xmlns:a16="http://schemas.microsoft.com/office/drawing/2014/main" val="3423078955"/>
                    </a:ext>
                  </a:extLst>
                </a:gridCol>
                <a:gridCol w="1187968">
                  <a:extLst>
                    <a:ext uri="{9D8B030D-6E8A-4147-A177-3AD203B41FA5}">
                      <a16:colId xmlns:a16="http://schemas.microsoft.com/office/drawing/2014/main" val="1519525274"/>
                    </a:ext>
                  </a:extLst>
                </a:gridCol>
                <a:gridCol w="1187968">
                  <a:extLst>
                    <a:ext uri="{9D8B030D-6E8A-4147-A177-3AD203B41FA5}">
                      <a16:colId xmlns:a16="http://schemas.microsoft.com/office/drawing/2014/main" val="1779542091"/>
                    </a:ext>
                  </a:extLst>
                </a:gridCol>
                <a:gridCol w="1187968">
                  <a:extLst>
                    <a:ext uri="{9D8B030D-6E8A-4147-A177-3AD203B41FA5}">
                      <a16:colId xmlns:a16="http://schemas.microsoft.com/office/drawing/2014/main" val="2067462815"/>
                    </a:ext>
                  </a:extLst>
                </a:gridCol>
                <a:gridCol w="1187968">
                  <a:extLst>
                    <a:ext uri="{9D8B030D-6E8A-4147-A177-3AD203B41FA5}">
                      <a16:colId xmlns:a16="http://schemas.microsoft.com/office/drawing/2014/main" val="363882081"/>
                    </a:ext>
                  </a:extLst>
                </a:gridCol>
                <a:gridCol w="1187968">
                  <a:extLst>
                    <a:ext uri="{9D8B030D-6E8A-4147-A177-3AD203B41FA5}">
                      <a16:colId xmlns:a16="http://schemas.microsoft.com/office/drawing/2014/main" val="729674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Table 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email_state_info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05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身分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email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計畫代碼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計畫名稱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郵件是否已寄送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697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對應屬性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identity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name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email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project_code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project_name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is_send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005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0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538B5C-D07B-76F6-7FAD-56BADEA37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每月寄送郵件系統 </a:t>
            </a:r>
            <a:r>
              <a:rPr lang="en-US" altLang="zh-TW" dirty="0"/>
              <a:t>– </a:t>
            </a:r>
            <a:r>
              <a:rPr lang="zh-TW" altLang="en-US" dirty="0"/>
              <a:t>實作分析 </a:t>
            </a:r>
            <a:r>
              <a:rPr lang="en-US" altLang="zh-TW" dirty="0"/>
              <a:t>– </a:t>
            </a:r>
            <a:r>
              <a:rPr lang="zh-TW" altLang="en-US" dirty="0"/>
              <a:t>試算表輸出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FCC86A-171A-6535-3CA5-E309BA054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 </a:t>
            </a:r>
            <a:r>
              <a:rPr lang="en-US" altLang="zh-TW" dirty="0" err="1"/>
              <a:t>email_state_info</a:t>
            </a:r>
            <a:r>
              <a:rPr lang="en-US" altLang="zh-TW" dirty="0"/>
              <a:t> </a:t>
            </a:r>
            <a:r>
              <a:rPr lang="zh-TW" altLang="en-US" dirty="0"/>
              <a:t>中的資訊存入 </a:t>
            </a:r>
            <a:r>
              <a:rPr lang="en-US" altLang="zh-TW" dirty="0"/>
              <a:t>Google </a:t>
            </a:r>
            <a:r>
              <a:rPr lang="zh-TW" altLang="en-US" dirty="0"/>
              <a:t>試算表中。</a:t>
            </a:r>
            <a:endParaRPr lang="en-US" altLang="zh-TW" dirty="0"/>
          </a:p>
          <a:p>
            <a:r>
              <a:rPr lang="zh-TW" altLang="en-US" dirty="0"/>
              <a:t>新增一個輸出用試算表，依序將對應屬性填入欄位。</a:t>
            </a:r>
            <a:endParaRPr lang="en-US" altLang="zh-TW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630DD25-B631-31AA-917F-3BF4E4883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905535"/>
              </p:ext>
            </p:extLst>
          </p:nvPr>
        </p:nvGraphicFramePr>
        <p:xfrm>
          <a:off x="1852493" y="3708541"/>
          <a:ext cx="8483833" cy="16510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356025">
                  <a:extLst>
                    <a:ext uri="{9D8B030D-6E8A-4147-A177-3AD203B41FA5}">
                      <a16:colId xmlns:a16="http://schemas.microsoft.com/office/drawing/2014/main" val="802967767"/>
                    </a:ext>
                  </a:extLst>
                </a:gridCol>
                <a:gridCol w="1187968">
                  <a:extLst>
                    <a:ext uri="{9D8B030D-6E8A-4147-A177-3AD203B41FA5}">
                      <a16:colId xmlns:a16="http://schemas.microsoft.com/office/drawing/2014/main" val="3423078955"/>
                    </a:ext>
                  </a:extLst>
                </a:gridCol>
                <a:gridCol w="1187968">
                  <a:extLst>
                    <a:ext uri="{9D8B030D-6E8A-4147-A177-3AD203B41FA5}">
                      <a16:colId xmlns:a16="http://schemas.microsoft.com/office/drawing/2014/main" val="1519525274"/>
                    </a:ext>
                  </a:extLst>
                </a:gridCol>
                <a:gridCol w="1187968">
                  <a:extLst>
                    <a:ext uri="{9D8B030D-6E8A-4147-A177-3AD203B41FA5}">
                      <a16:colId xmlns:a16="http://schemas.microsoft.com/office/drawing/2014/main" val="1779542091"/>
                    </a:ext>
                  </a:extLst>
                </a:gridCol>
                <a:gridCol w="1187968">
                  <a:extLst>
                    <a:ext uri="{9D8B030D-6E8A-4147-A177-3AD203B41FA5}">
                      <a16:colId xmlns:a16="http://schemas.microsoft.com/office/drawing/2014/main" val="2067462815"/>
                    </a:ext>
                  </a:extLst>
                </a:gridCol>
                <a:gridCol w="1187968">
                  <a:extLst>
                    <a:ext uri="{9D8B030D-6E8A-4147-A177-3AD203B41FA5}">
                      <a16:colId xmlns:a16="http://schemas.microsoft.com/office/drawing/2014/main" val="363882081"/>
                    </a:ext>
                  </a:extLst>
                </a:gridCol>
                <a:gridCol w="1187968">
                  <a:extLst>
                    <a:ext uri="{9D8B030D-6E8A-4147-A177-3AD203B41FA5}">
                      <a16:colId xmlns:a16="http://schemas.microsoft.com/office/drawing/2014/main" val="729674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Table 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email_state_info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05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身分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email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計畫代碼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計畫名稱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郵件是否已寄送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697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對應屬性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identity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name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email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project_code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project_name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is_send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005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61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B8F680-511D-62FF-39CB-FAD788806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每月寄送郵件系統 </a:t>
            </a:r>
            <a:r>
              <a:rPr lang="en-US" altLang="zh-TW" dirty="0"/>
              <a:t>– </a:t>
            </a:r>
            <a:r>
              <a:rPr lang="zh-TW" altLang="en-US" dirty="0"/>
              <a:t>實作示範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0_Create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F923C8-2269-1F40-A3D2-376E7A6F1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此工作流用於創建資料庫的各個 </a:t>
            </a:r>
            <a:r>
              <a:rPr lang="en-US" altLang="zh-TW" dirty="0"/>
              <a:t>table</a:t>
            </a:r>
            <a:r>
              <a:rPr lang="zh-TW" altLang="en-US" dirty="0"/>
              <a:t>，僅須執行一次。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6C80D6F-AEF5-5C8D-7169-2ECDDCDF6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64" y="4269476"/>
            <a:ext cx="11249891" cy="201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66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5C4352-C8A5-1E42-CFA5-089105ED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每月寄送郵件系統 </a:t>
            </a:r>
            <a:r>
              <a:rPr lang="en-US" altLang="zh-TW" dirty="0"/>
              <a:t>– </a:t>
            </a:r>
            <a:r>
              <a:rPr lang="zh-TW" altLang="en-US" dirty="0"/>
              <a:t>實作示範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1_Upload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1878A5-6DEA-176E-D4EA-30182B6A1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此工作流用於將資料從 </a:t>
            </a:r>
            <a:r>
              <a:rPr lang="en-US" altLang="zh-TW" dirty="0"/>
              <a:t>Google </a:t>
            </a:r>
            <a:r>
              <a:rPr lang="zh-TW" altLang="en-US" dirty="0"/>
              <a:t>試算表上傳至資料庫，隨後交由 </a:t>
            </a:r>
            <a:r>
              <a:rPr lang="en-US" altLang="zh-TW" dirty="0"/>
              <a:t>Google Gemini </a:t>
            </a:r>
            <a:r>
              <a:rPr lang="zh-TW" altLang="en-US" dirty="0"/>
              <a:t>來翻譯計畫代碼篩選條件至 </a:t>
            </a:r>
            <a:r>
              <a:rPr lang="en-US" altLang="zh-TW" dirty="0"/>
              <a:t>SQL</a:t>
            </a:r>
            <a:r>
              <a:rPr lang="zh-TW" altLang="en-US" dirty="0"/>
              <a:t> 語句並由此篩選郵件的寄送對象，並且在最後更新郵件寄送狀態試算表。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3AC0709-531B-66D5-36DC-AB07C1D28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860" y="2670904"/>
            <a:ext cx="6024279" cy="387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862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5B25A2-F674-49DD-FF17-A84AEF88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每月寄送郵件系統 </a:t>
            </a:r>
            <a:r>
              <a:rPr lang="en-US" altLang="zh-TW" dirty="0"/>
              <a:t>– </a:t>
            </a:r>
            <a:r>
              <a:rPr lang="zh-TW" altLang="en-US" dirty="0"/>
              <a:t>實作示範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2_Send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2B1BBB-1C90-1782-6723-B227985F5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此工作流用於寄送個人化郵件，且在最後更新郵件寄送狀態並輸出至 </a:t>
            </a:r>
            <a:r>
              <a:rPr lang="en-US" altLang="zh-TW" dirty="0"/>
              <a:t>Google </a:t>
            </a:r>
            <a:r>
              <a:rPr lang="zh-TW" altLang="en-US" dirty="0"/>
              <a:t>試算表。</a:t>
            </a:r>
            <a:endParaRPr lang="en-US" altLang="zh-TW" dirty="0"/>
          </a:p>
          <a:p>
            <a:r>
              <a:rPr lang="zh-TW" altLang="en-US" dirty="0"/>
              <a:t>為避免 </a:t>
            </a:r>
            <a:r>
              <a:rPr lang="en-US" altLang="zh-TW" dirty="0"/>
              <a:t>Gmail API </a:t>
            </a:r>
            <a:r>
              <a:rPr lang="zh-TW" altLang="en-US" dirty="0"/>
              <a:t>超出使用額度，每次執行僅會寄送 </a:t>
            </a:r>
            <a:r>
              <a:rPr lang="en-US" altLang="zh-TW" dirty="0"/>
              <a:t>400</a:t>
            </a:r>
            <a:r>
              <a:rPr lang="zh-TW" altLang="en-US" dirty="0"/>
              <a:t> 封。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B69B20C-5C85-26B2-F535-DE37E70A4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864" y="2816253"/>
            <a:ext cx="7897091" cy="395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0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64F582-F807-4865-C0DB-DE7F188E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每月郵件寄送系統 </a:t>
            </a:r>
            <a:r>
              <a:rPr lang="en-US" altLang="zh-TW" dirty="0"/>
              <a:t>– </a:t>
            </a:r>
            <a:r>
              <a:rPr lang="zh-TW" altLang="en-US" dirty="0"/>
              <a:t>系統流程</a:t>
            </a:r>
          </a:p>
        </p:txBody>
      </p:sp>
      <p:graphicFrame>
        <p:nvGraphicFramePr>
          <p:cNvPr id="9" name="資料庫圖表 8">
            <a:extLst>
              <a:ext uri="{FF2B5EF4-FFF2-40B4-BE49-F238E27FC236}">
                <a16:creationId xmlns:a16="http://schemas.microsoft.com/office/drawing/2014/main" id="{5028BCA0-8001-A275-728D-419FAE0DF6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6456652"/>
              </p:ext>
            </p:extLst>
          </p:nvPr>
        </p:nvGraphicFramePr>
        <p:xfrm>
          <a:off x="2030410" y="2031615"/>
          <a:ext cx="8128000" cy="39216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箭號: 迴轉箭號 10">
            <a:extLst>
              <a:ext uri="{FF2B5EF4-FFF2-40B4-BE49-F238E27FC236}">
                <a16:creationId xmlns:a16="http://schemas.microsoft.com/office/drawing/2014/main" id="{D1F0AD5D-CA10-553D-27F0-F252E5CAA33B}"/>
              </a:ext>
            </a:extLst>
          </p:cNvPr>
          <p:cNvSpPr/>
          <p:nvPr/>
        </p:nvSpPr>
        <p:spPr>
          <a:xfrm flipH="1">
            <a:off x="4959928" y="2378365"/>
            <a:ext cx="4202545" cy="822037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745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5B2A52-DC73-88E3-E9D6-3886525B2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每月郵件寄送系統 </a:t>
            </a:r>
            <a:r>
              <a:rPr lang="en-US" altLang="zh-TW" dirty="0"/>
              <a:t>– </a:t>
            </a:r>
            <a:r>
              <a:rPr lang="zh-TW" altLang="en-US" dirty="0"/>
              <a:t>執行結果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4AF8F3-6803-456E-FD42-CBB00424E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郵件範例：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29ED991-0781-E29D-885A-A21E94EEE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436" y="2113799"/>
            <a:ext cx="7195127" cy="367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55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2465A-AEAD-9FA1-17B1-EC576FCDF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159167B-CA5C-4243-6B96-52D142EB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目錄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D499B07-3143-AC95-B25F-629D19E82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/>
              <a:t>n8n</a:t>
            </a:r>
            <a:r>
              <a:rPr lang="zh-TW" altLang="en-US" sz="2800" dirty="0"/>
              <a:t> 的特色與優勢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與資料庫的安裝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的介面與基本功能介紹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的 </a:t>
            </a:r>
            <a:r>
              <a:rPr lang="en-US" altLang="zh-TW" sz="2800" dirty="0"/>
              <a:t>API</a:t>
            </a:r>
            <a:r>
              <a:rPr lang="zh-TW" altLang="en-US" sz="2800" dirty="0"/>
              <a:t> 憑證取得</a:t>
            </a:r>
            <a:endParaRPr lang="en-US" altLang="zh-TW" sz="2800" dirty="0"/>
          </a:p>
          <a:p>
            <a:r>
              <a:rPr lang="en-US" altLang="zh-TW" sz="2800" dirty="0"/>
              <a:t>n8n </a:t>
            </a:r>
            <a:r>
              <a:rPr lang="zh-TW" altLang="en-US" sz="2800" dirty="0"/>
              <a:t>的情境實作：每月郵件寄送系統</a:t>
            </a:r>
            <a:endParaRPr lang="en-US" altLang="zh-TW" sz="2800" dirty="0"/>
          </a:p>
          <a:p>
            <a:r>
              <a:rPr lang="zh-TW" altLang="en-US" sz="2800" dirty="0">
                <a:solidFill>
                  <a:schemeClr val="accent2">
                    <a:lumMod val="75000"/>
                  </a:schemeClr>
                </a:solidFill>
              </a:rPr>
              <a:t>額外補充</a:t>
            </a:r>
            <a:endParaRPr lang="en-US" altLang="zh-TW" sz="28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5367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C5D033-68B4-984A-5335-C526BEBA6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n8n </a:t>
            </a:r>
            <a:r>
              <a:rPr lang="zh-TW" altLang="en-US" dirty="0"/>
              <a:t>的更新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AAFF16-F64F-6220-3CE9-CD12C87F2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要更新 </a:t>
            </a:r>
            <a:r>
              <a:rPr lang="en-US" altLang="zh-TW" dirty="0"/>
              <a:t>n8n</a:t>
            </a:r>
            <a:r>
              <a:rPr lang="zh-TW" altLang="en-US" dirty="0"/>
              <a:t>，首先需要將原本的 </a:t>
            </a:r>
            <a:r>
              <a:rPr lang="en-US" altLang="zh-TW" dirty="0"/>
              <a:t>n8n </a:t>
            </a:r>
            <a:r>
              <a:rPr lang="zh-TW" altLang="en-US" dirty="0"/>
              <a:t>容器關閉並刪除，執行以下指令：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 stop n8n</a:t>
            </a:r>
          </a:p>
          <a:p>
            <a:pPr lvl="1"/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 rm n8n</a:t>
            </a:r>
            <a:endParaRPr lang="en-US" altLang="zh-TW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TW" altLang="en-US" dirty="0"/>
              <a:t>接著提取所需的最新映像檔，執行以下指令：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 pull n8nio/n8n</a:t>
            </a:r>
          </a:p>
          <a:p>
            <a:pPr lvl="1"/>
            <a:r>
              <a:rPr lang="zh-TW" altLang="en-US" dirty="0">
                <a:latin typeface="Consolas" panose="020B0609020204030204" pitchFamily="49" charset="0"/>
              </a:rPr>
              <a:t>此指令將提取最新的 </a:t>
            </a:r>
            <a:r>
              <a:rPr lang="en-US" altLang="zh-TW" dirty="0">
                <a:latin typeface="Consolas" panose="020B0609020204030204" pitchFamily="49" charset="0"/>
              </a:rPr>
              <a:t>n8nio/n8n </a:t>
            </a:r>
            <a:r>
              <a:rPr lang="zh-TW" altLang="en-US" dirty="0">
                <a:latin typeface="Consolas" panose="020B0609020204030204" pitchFamily="49" charset="0"/>
              </a:rPr>
              <a:t>映像檔，但不會刪除原本的舊版本映像檔。</a:t>
            </a:r>
            <a:endParaRPr lang="en-US" altLang="zh-TW" dirty="0">
              <a:latin typeface="Consolas" panose="020B0609020204030204" pitchFamily="49" charset="0"/>
            </a:endParaRPr>
          </a:p>
          <a:p>
            <a:pPr lvl="1"/>
            <a:r>
              <a:rPr lang="zh-TW" altLang="en-US" dirty="0">
                <a:latin typeface="Consolas" panose="020B0609020204030204" pitchFamily="49" charset="0"/>
              </a:rPr>
              <a:t>舊版本映像檔可直接前往 </a:t>
            </a:r>
            <a:r>
              <a:rPr lang="en-US" altLang="zh-TW" dirty="0">
                <a:latin typeface="Consolas" panose="020B0609020204030204" pitchFamily="49" charset="0"/>
              </a:rPr>
              <a:t>docker desktop </a:t>
            </a:r>
            <a:r>
              <a:rPr lang="zh-TW" altLang="en-US" dirty="0">
                <a:latin typeface="Consolas" panose="020B0609020204030204" pitchFamily="49" charset="0"/>
              </a:rPr>
              <a:t>介面進行刪除或執行指令：</a:t>
            </a:r>
            <a:r>
              <a:rPr lang="en-US" altLang="zh-TW" dirty="0"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 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image prune -f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78187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BC4B12-D7FF-4DDC-42FB-C4765A36E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更好的部屬</a:t>
            </a:r>
            <a:r>
              <a:rPr lang="en-US" altLang="zh-TW" dirty="0"/>
              <a:t>(</a:t>
            </a:r>
            <a:r>
              <a:rPr lang="zh-TW" altLang="en-US" dirty="0"/>
              <a:t>安裝</a:t>
            </a:r>
            <a:r>
              <a:rPr lang="en-US" altLang="zh-TW" dirty="0"/>
              <a:t>)</a:t>
            </a:r>
            <a:r>
              <a:rPr lang="zh-TW" altLang="en-US" dirty="0"/>
              <a:t>方式 </a:t>
            </a:r>
            <a:r>
              <a:rPr lang="en-US" altLang="zh-TW" dirty="0"/>
              <a:t>– docker-compose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A37DA2-35CA-0AF1-97E7-F6E6E8140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27867"/>
            <a:ext cx="9905999" cy="5146824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可事先準備好 </a:t>
            </a:r>
            <a:r>
              <a:rPr lang="en-US" altLang="zh-TW" dirty="0">
                <a:latin typeface="Consolas" panose="020B0609020204030204" pitchFamily="49" charset="0"/>
              </a:rPr>
              <a:t>docker-</a:t>
            </a:r>
            <a:r>
              <a:rPr lang="en-US" altLang="zh-TW" dirty="0" err="1">
                <a:latin typeface="Consolas" panose="020B0609020204030204" pitchFamily="49" charset="0"/>
              </a:rPr>
              <a:t>compose.yml</a:t>
            </a:r>
            <a:r>
              <a:rPr lang="zh-TW" altLang="en-US" dirty="0"/>
              <a:t> 檔，要部屬時在該資料夾中開啟終端，並執行以下指令：</a:t>
            </a:r>
            <a:endParaRPr lang="en-US" altLang="zh-TW" dirty="0"/>
          </a:p>
          <a:p>
            <a:pPr lvl="1"/>
            <a:r>
              <a:rPr lang="zh-TW" altLang="en-US" dirty="0"/>
              <a:t> 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docker-compose up –d</a:t>
            </a:r>
          </a:p>
          <a:p>
            <a:pPr lvl="1"/>
            <a:r>
              <a:rPr lang="zh-TW" altLang="en-US" dirty="0">
                <a:latin typeface="Consolas" panose="020B0609020204030204" pitchFamily="49" charset="0"/>
              </a:rPr>
              <a:t>此指令將會根據該資料夾中的 </a:t>
            </a:r>
            <a:r>
              <a:rPr lang="en-US" altLang="zh-TW" dirty="0">
                <a:latin typeface="Consolas" panose="020B0609020204030204" pitchFamily="49" charset="0"/>
              </a:rPr>
              <a:t>docker-</a:t>
            </a:r>
            <a:r>
              <a:rPr lang="en-US" altLang="zh-TW" dirty="0" err="1">
                <a:latin typeface="Consolas" panose="020B0609020204030204" pitchFamily="49" charset="0"/>
              </a:rPr>
              <a:t>compose.yml</a:t>
            </a:r>
            <a:r>
              <a:rPr lang="en-US" altLang="zh-TW" dirty="0">
                <a:latin typeface="Consolas" panose="020B0609020204030204" pitchFamily="49" charset="0"/>
              </a:rPr>
              <a:t> </a:t>
            </a:r>
            <a:r>
              <a:rPr lang="zh-TW" altLang="en-US" dirty="0">
                <a:latin typeface="Consolas" panose="020B0609020204030204" pitchFamily="49" charset="0"/>
              </a:rPr>
              <a:t>和 </a:t>
            </a:r>
            <a:r>
              <a:rPr lang="en-US" altLang="zh-TW" dirty="0">
                <a:latin typeface="Consolas" panose="020B0609020204030204" pitchFamily="49" charset="0"/>
              </a:rPr>
              <a:t>.env </a:t>
            </a:r>
            <a:r>
              <a:rPr lang="zh-TW" altLang="en-US" dirty="0">
                <a:latin typeface="Consolas" panose="020B0609020204030204" pitchFamily="49" charset="0"/>
              </a:rPr>
              <a:t>檔，提取對應的映像檔、設置環境變數並生成 </a:t>
            </a:r>
            <a:r>
              <a:rPr lang="en-US" altLang="zh-TW" dirty="0">
                <a:latin typeface="Consolas" panose="020B0609020204030204" pitchFamily="49" charset="0"/>
              </a:rPr>
              <a:t>volume </a:t>
            </a:r>
            <a:r>
              <a:rPr lang="zh-TW" altLang="en-US" dirty="0">
                <a:latin typeface="Consolas" panose="020B0609020204030204" pitchFamily="49" charset="0"/>
              </a:rPr>
              <a:t>和容器。</a:t>
            </a:r>
            <a:endParaRPr lang="en-US" altLang="zh-TW" dirty="0">
              <a:latin typeface="Consolas" panose="020B0609020204030204" pitchFamily="49" charset="0"/>
            </a:endParaRPr>
          </a:p>
          <a:p>
            <a:r>
              <a:rPr lang="zh-TW" altLang="en-US" dirty="0">
                <a:latin typeface="Consolas" panose="020B0609020204030204" pitchFamily="49" charset="0"/>
              </a:rPr>
              <a:t>若要關閉容器，可執行已下指令：</a:t>
            </a:r>
            <a:endParaRPr lang="en-US" altLang="zh-TW" dirty="0">
              <a:latin typeface="Consolas" panose="020B0609020204030204" pitchFamily="49" charset="0"/>
            </a:endParaRPr>
          </a:p>
          <a:p>
            <a:pPr lvl="1"/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docker-compose down</a:t>
            </a:r>
          </a:p>
          <a:p>
            <a:pPr lvl="1"/>
            <a:r>
              <a:rPr lang="zh-TW" altLang="en-US" dirty="0">
                <a:latin typeface="Consolas" panose="020B0609020204030204" pitchFamily="49" charset="0"/>
              </a:rPr>
              <a:t>此指令將關閉並刪除由 </a:t>
            </a:r>
            <a:r>
              <a:rPr lang="en-US" altLang="zh-TW" dirty="0">
                <a:latin typeface="Consolas" panose="020B0609020204030204" pitchFamily="49" charset="0"/>
              </a:rPr>
              <a:t>docker-compose </a:t>
            </a:r>
            <a:r>
              <a:rPr lang="zh-TW" altLang="en-US" dirty="0">
                <a:latin typeface="Consolas" panose="020B0609020204030204" pitchFamily="49" charset="0"/>
              </a:rPr>
              <a:t>產生的容器，但不會刪除 </a:t>
            </a:r>
            <a:r>
              <a:rPr lang="en-US" altLang="zh-TW" dirty="0">
                <a:latin typeface="Consolas" panose="020B0609020204030204" pitchFamily="49" charset="0"/>
              </a:rPr>
              <a:t>volume</a:t>
            </a:r>
            <a:r>
              <a:rPr lang="zh-TW" altLang="en-US" dirty="0">
                <a:latin typeface="Consolas" panose="020B0609020204030204" pitchFamily="49" charset="0"/>
              </a:rPr>
              <a:t>。</a:t>
            </a:r>
            <a:endParaRPr lang="en-US" altLang="zh-TW" dirty="0">
              <a:latin typeface="Consolas" panose="020B0609020204030204" pitchFamily="49" charset="0"/>
            </a:endParaRPr>
          </a:p>
          <a:p>
            <a:pPr lvl="1"/>
            <a:r>
              <a:rPr lang="zh-TW" altLang="en-US" dirty="0">
                <a:latin typeface="Consolas" panose="020B0609020204030204" pitchFamily="49" charset="0"/>
              </a:rPr>
              <a:t>若要刪除 </a:t>
            </a:r>
            <a:r>
              <a:rPr lang="en-US" altLang="zh-TW" dirty="0">
                <a:latin typeface="Consolas" panose="020B0609020204030204" pitchFamily="49" charset="0"/>
              </a:rPr>
              <a:t>volume</a:t>
            </a:r>
            <a:r>
              <a:rPr lang="zh-TW" altLang="en-US" dirty="0">
                <a:latin typeface="Consolas" panose="020B0609020204030204" pitchFamily="49" charset="0"/>
              </a:rPr>
              <a:t>，請執行：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docker-compose down –v</a:t>
            </a:r>
            <a:endParaRPr lang="en-US" altLang="zh-TW" dirty="0">
              <a:latin typeface="Consolas" panose="020B0609020204030204" pitchFamily="49" charset="0"/>
            </a:endParaRPr>
          </a:p>
          <a:p>
            <a:r>
              <a:rPr lang="zh-TW" altLang="en-US" dirty="0">
                <a:latin typeface="Consolas" panose="020B0609020204030204" pitchFamily="49" charset="0"/>
              </a:rPr>
              <a:t>若要更新映像檔，可執行以下指令：</a:t>
            </a:r>
            <a:endParaRPr lang="en-US" altLang="zh-TW" dirty="0">
              <a:latin typeface="Consolas" panose="020B0609020204030204" pitchFamily="49" charset="0"/>
            </a:endParaRPr>
          </a:p>
          <a:p>
            <a:pPr lvl="1"/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docker-compose pull</a:t>
            </a:r>
          </a:p>
          <a:p>
            <a:pPr lvl="1"/>
            <a:r>
              <a:rPr lang="zh-TW" altLang="en-US" dirty="0">
                <a:latin typeface="Consolas" panose="020B0609020204030204" pitchFamily="49" charset="0"/>
              </a:rPr>
              <a:t>執行此指令時，請確保沒有容器在場。</a:t>
            </a:r>
            <a:endParaRPr lang="en-US" altLang="zh-TW" dirty="0">
              <a:latin typeface="Consolas" panose="020B0609020204030204" pitchFamily="49" charset="0"/>
            </a:endParaRPr>
          </a:p>
          <a:p>
            <a:pPr lvl="1"/>
            <a:endParaRPr lang="en-US" altLang="zh-TW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329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D27C107-4D74-F424-19D7-587923EBA799}"/>
              </a:ext>
            </a:extLst>
          </p:cNvPr>
          <p:cNvSpPr txBox="1"/>
          <p:nvPr/>
        </p:nvSpPr>
        <p:spPr>
          <a:xfrm>
            <a:off x="2710873" y="2459504"/>
            <a:ext cx="67702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工作坊到此結束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</a:p>
          <a:p>
            <a:pPr algn="ctr"/>
            <a:endParaRPr lang="en-US" altLang="zh-TW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Any question ?</a:t>
            </a:r>
          </a:p>
        </p:txBody>
      </p:sp>
    </p:spTree>
    <p:extLst>
      <p:ext uri="{BB962C8B-B14F-4D97-AF65-F5344CB8AC3E}">
        <p14:creationId xmlns:p14="http://schemas.microsoft.com/office/powerpoint/2010/main" val="3233125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電路">
  <a:themeElements>
    <a:clrScheme name="電路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電路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電路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3971</TotalTime>
  <Words>3167</Words>
  <Application>Microsoft Office PowerPoint</Application>
  <PresentationFormat>寬螢幕</PresentationFormat>
  <Paragraphs>376</Paragraphs>
  <Slides>53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53</vt:i4>
      </vt:variant>
    </vt:vector>
  </HeadingPairs>
  <TitlesOfParts>
    <vt:vector size="63" baseType="lpstr">
      <vt:lpstr>Google Sans Text</vt:lpstr>
      <vt:lpstr>微軟正黑體</vt:lpstr>
      <vt:lpstr>Arial</vt:lpstr>
      <vt:lpstr>Calibri</vt:lpstr>
      <vt:lpstr>Calibri Light</vt:lpstr>
      <vt:lpstr>Consolas</vt:lpstr>
      <vt:lpstr>Tw Cen MT</vt:lpstr>
      <vt:lpstr>Wingdings 2</vt:lpstr>
      <vt:lpstr>HDOfficeLightV0</vt:lpstr>
      <vt:lpstr>電路</vt:lpstr>
      <vt:lpstr>n8n介紹與實作</vt:lpstr>
      <vt:lpstr>目錄</vt:lpstr>
      <vt:lpstr>目錄</vt:lpstr>
      <vt:lpstr>什麼是 n8n ?</vt:lpstr>
      <vt:lpstr>n8n 的優勢</vt:lpstr>
      <vt:lpstr>目錄</vt:lpstr>
      <vt:lpstr>n8n 安裝前置需求</vt:lpstr>
      <vt:lpstr>n8n 安裝前置需求 (cont.)</vt:lpstr>
      <vt:lpstr>n8n 的安裝</vt:lpstr>
      <vt:lpstr>n8n 的安裝 (cont.)</vt:lpstr>
      <vt:lpstr>n8n 安裝指令說明 (1)</vt:lpstr>
      <vt:lpstr>n8n 安裝指令說明 (2)</vt:lpstr>
      <vt:lpstr>資料庫的安裝</vt:lpstr>
      <vt:lpstr>資料庫安裝指令說明 (1)</vt:lpstr>
      <vt:lpstr>資料庫安裝指令說明 (2)</vt:lpstr>
      <vt:lpstr>n8n 與資料庫安裝完成確認</vt:lpstr>
      <vt:lpstr>n8n 與資料庫安裝完成 (?)</vt:lpstr>
      <vt:lpstr>n8n 與資料庫的虛擬網路創建</vt:lpstr>
      <vt:lpstr>n8n 與資料庫的容器刪除</vt:lpstr>
      <vt:lpstr>n8n 與資料庫的連接</vt:lpstr>
      <vt:lpstr>n8n 與資料庫安裝完成確認 – 虛擬網路已連接</vt:lpstr>
      <vt:lpstr>n8n 與資料庫安裝完成</vt:lpstr>
      <vt:lpstr>目錄</vt:lpstr>
      <vt:lpstr>n8n 的註冊</vt:lpstr>
      <vt:lpstr>n8n 的介面簡介 – 初始介面 </vt:lpstr>
      <vt:lpstr>n8n 介面簡介 – 工作流介面</vt:lpstr>
      <vt:lpstr>n8n 介面簡介 – 主介面</vt:lpstr>
      <vt:lpstr>目錄</vt:lpstr>
      <vt:lpstr>Credential (憑證) 簡介</vt:lpstr>
      <vt:lpstr>n8n 的憑證取得 – PostgreSQL 資料庫</vt:lpstr>
      <vt:lpstr>n8n 憑證取得 - Google Gemini</vt:lpstr>
      <vt:lpstr>n8n 憑證取得 - Google Gemini (cont.)</vt:lpstr>
      <vt:lpstr>n8n 憑證取得 – Gmail, 試算表</vt:lpstr>
      <vt:lpstr>n8n 憑證取得 – Gmail, 試算表, 雲端硬碟 (cont.)</vt:lpstr>
      <vt:lpstr>n8n 憑證取得 – Gmail, 試算表, 雲端硬碟 (cont.)</vt:lpstr>
      <vt:lpstr>目錄</vt:lpstr>
      <vt:lpstr>每月寄送郵件系統 – 情境說明</vt:lpstr>
      <vt:lpstr>每月寄送郵件系統 – 情境說明 – 聘案表</vt:lpstr>
      <vt:lpstr>每月寄送郵件系統 – 情境說明 – 篩選條件</vt:lpstr>
      <vt:lpstr>每月寄送郵件系統 – 情境說明 – 郵件內容</vt:lpstr>
      <vt:lpstr>每月寄送郵件系統 – 實作分析</vt:lpstr>
      <vt:lpstr>每月寄送郵件系統 – 實作分析 – 試算表輸入</vt:lpstr>
      <vt:lpstr>每月寄送郵件系統 – 實作分析 – 資料庫建立</vt:lpstr>
      <vt:lpstr>每月寄送郵件系統 – 實作分析 – 試算表輸出</vt:lpstr>
      <vt:lpstr>每月寄送郵件系統 – 實作示範 – 0_Create</vt:lpstr>
      <vt:lpstr>每月寄送郵件系統 – 實作示範 – 1_Upload</vt:lpstr>
      <vt:lpstr>每月寄送郵件系統 – 實作示範 – 2_Send</vt:lpstr>
      <vt:lpstr>每月郵件寄送系統 – 系統流程</vt:lpstr>
      <vt:lpstr>每月郵件寄送系統 – 執行結果</vt:lpstr>
      <vt:lpstr>目錄</vt:lpstr>
      <vt:lpstr>n8n 的更新</vt:lpstr>
      <vt:lpstr>更好的部屬(安裝)方式 – docker-compose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蔡明翰</dc:creator>
  <cp:lastModifiedBy>蔡明翰</cp:lastModifiedBy>
  <cp:revision>18</cp:revision>
  <dcterms:created xsi:type="dcterms:W3CDTF">2026-03-16T11:47:07Z</dcterms:created>
  <dcterms:modified xsi:type="dcterms:W3CDTF">2026-03-19T07:26:33Z</dcterms:modified>
</cp:coreProperties>
</file>